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1D1A46-599C-C402-B764-88367D26071B}">
          <p14:sldIdLst>
            <p14:sldId id="256"/>
            <p14:sldId id="257"/>
          </p14:sldIdLst>
        </p14:section>
        <p14:section name="Data and method" id="{69E94A01-30C3-17C0-3C23-5A269F880809}">
          <p14:sldIdLst>
            <p14:sldId id="258"/>
            <p14:sldId id="259"/>
            <p14:sldId id="260"/>
          </p14:sldIdLst>
        </p14:section>
        <p14:section name="Results" id="{DF871ECD-0CDF-E4FB-4B80-7738E86AD517}">
          <p14:sldIdLst>
            <p14:sldId id="261"/>
            <p14:sldId id="262"/>
          </p14:sldIdLst>
        </p14:section>
        <p14:section name="Conclusion" id="{58D99D97-584E-F114-DDE2-13E1EE83586B}">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0" dt="2026-10-27T14:08:45.7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C49"/>
                </a:solidFill>
                <a:latin typeface="+mn-lt"/>
              </a:defRPr>
            </a:pPr>
            <a:r>
              <a:rPr lang="en-US" sz="1200" b="0" i="0" u="none" strike="noStrike">
                <a:solidFill>
                  <a:srgbClr val="0B3C49"/>
                </a:solidFill>
                <a:latin typeface="+mn-lt"/>
              </a:rPr>
              <a:t>Vanilla LSTM, macro-F1 (seed 42)</a:t>
            </a:r>
          </a:p>
        </c:rich>
      </c:tx>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1F8A82"/>
            </a:solidFill>
            <a:effectLst/>
          </c:spPr>
          <c:invertIfNegative val="0"/>
          <c:dPt>
            <c:idx val="0"/>
            <c:invertIfNegative val="0"/>
            <c:bubble3D val="0"/>
            <c:extLst>
              <c:ext xmlns:c16="http://schemas.microsoft.com/office/drawing/2014/chart" uri="{C3380CC4-5D6E-409C-BE32-E72D297353CC}">
                <c16:uniqueId val="{00000001-CDB1-45D0-8CDC-3DA4593AF81B}"/>
              </c:ext>
            </c:extLst>
          </c:dPt>
          <c:dPt>
            <c:idx val="1"/>
            <c:invertIfNegative val="0"/>
            <c:bubble3D val="0"/>
            <c:spPr>
              <a:solidFill>
                <a:srgbClr val="C8524F"/>
              </a:solidFill>
              <a:effectLst/>
            </c:spPr>
            <c:extLst>
              <c:ext xmlns:c16="http://schemas.microsoft.com/office/drawing/2014/chart" uri="{C3380CC4-5D6E-409C-BE32-E72D297353CC}">
                <c16:uniqueId val="{00000003-CDB1-45D0-8CDC-3DA4593AF81B}"/>
              </c:ext>
            </c:extLst>
          </c:dPt>
          <c:dPt>
            <c:idx val="2"/>
            <c:invertIfNegative val="0"/>
            <c:bubble3D val="0"/>
            <c:extLst>
              <c:ext xmlns:c16="http://schemas.microsoft.com/office/drawing/2014/chart" uri="{C3380CC4-5D6E-409C-BE32-E72D297353CC}">
                <c16:uniqueId val="{00000005-CDB1-45D0-8CDC-3DA4593AF81B}"/>
              </c:ext>
            </c:extLst>
          </c:dPt>
          <c:dPt>
            <c:idx val="3"/>
            <c:invertIfNegative val="0"/>
            <c:bubble3D val="0"/>
            <c:spPr>
              <a:solidFill>
                <a:srgbClr val="E39B3B"/>
              </a:solidFill>
              <a:effectLst/>
            </c:spPr>
            <c:extLst>
              <c:ext xmlns:c16="http://schemas.microsoft.com/office/drawing/2014/chart" uri="{C3380CC4-5D6E-409C-BE32-E72D297353CC}">
                <c16:uniqueId val="{00000007-CDB1-45D0-8CDC-3DA4593AF81B}"/>
              </c:ext>
            </c:extLst>
          </c:dPt>
          <c:dPt>
            <c:idx val="4"/>
            <c:invertIfNegative val="0"/>
            <c:bubble3D val="0"/>
            <c:extLst>
              <c:ext xmlns:c16="http://schemas.microsoft.com/office/drawing/2014/chart" uri="{C3380CC4-5D6E-409C-BE32-E72D297353CC}">
                <c16:uniqueId val="{00000009-CDB1-45D0-8CDC-3DA4593AF81B}"/>
              </c:ext>
            </c:extLst>
          </c:dPt>
          <c:dLbls>
            <c:numFmt formatCode="0.000" sourceLinked="0"/>
            <c:spPr>
              <a:noFill/>
              <a:ln>
                <a:noFill/>
              </a:ln>
              <a:effectLst/>
            </c:spPr>
            <c:txPr>
              <a:bodyPr/>
              <a:lstStyle/>
              <a:p>
                <a:pPr>
                  <a:defRPr sz="10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Reference</c:v>
                </c:pt>
                <c:pt idx="1">
                  <c:v>lr 10⁻²</c:v>
                </c:pt>
                <c:pt idx="2">
                  <c:v>RMSprop</c:v>
                </c:pt>
                <c:pt idx="3">
                  <c:v>Batch 128</c:v>
                </c:pt>
                <c:pt idx="4">
                  <c:v>Xavier init</c:v>
                </c:pt>
              </c:strCache>
            </c:strRef>
          </c:cat>
          <c:val>
            <c:numRef>
              <c:f>Sheet1!$B$2:$B$6</c:f>
              <c:numCache>
                <c:formatCode>General</c:formatCode>
                <c:ptCount val="5"/>
                <c:pt idx="0">
                  <c:v>0.754</c:v>
                </c:pt>
                <c:pt idx="1">
                  <c:v>0.55300000000000005</c:v>
                </c:pt>
                <c:pt idx="2">
                  <c:v>0.746</c:v>
                </c:pt>
                <c:pt idx="3">
                  <c:v>0.72899999999999998</c:v>
                </c:pt>
                <c:pt idx="4">
                  <c:v>0.753</c:v>
                </c:pt>
              </c:numCache>
            </c:numRef>
          </c:val>
          <c:extLst>
            <c:ext xmlns:c16="http://schemas.microsoft.com/office/drawing/2014/chart" uri="{C3380CC4-5D6E-409C-BE32-E72D297353CC}">
              <c16:uniqueId val="{0000000A-CDB1-45D0-8CDC-3DA4593AF81B}"/>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0.9"/>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C49"/>
                </a:solidFill>
                <a:latin typeface="+mn-lt"/>
              </a:defRPr>
            </a:pPr>
            <a:r>
              <a:rPr lang="en-US" sz="1200" b="0" i="0" u="none" strike="noStrike">
                <a:solidFill>
                  <a:srgbClr val="0B3C49"/>
                </a:solidFill>
                <a:latin typeface="+mn-lt"/>
              </a:rPr>
              <a:t>Macro-F1 (test)</a:t>
            </a:r>
          </a:p>
        </c:rich>
      </c:tx>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7FB8B2"/>
            </a:solidFill>
            <a:effectLst/>
          </c:spPr>
          <c:invertIfNegative val="0"/>
          <c:dPt>
            <c:idx val="0"/>
            <c:invertIfNegative val="0"/>
            <c:bubble3D val="0"/>
            <c:extLst>
              <c:ext xmlns:c16="http://schemas.microsoft.com/office/drawing/2014/chart" uri="{C3380CC4-5D6E-409C-BE32-E72D297353CC}">
                <c16:uniqueId val="{00000001-713F-4EF4-A052-9864F3158A5B}"/>
              </c:ext>
            </c:extLst>
          </c:dPt>
          <c:dPt>
            <c:idx val="1"/>
            <c:invertIfNegative val="0"/>
            <c:bubble3D val="0"/>
            <c:spPr>
              <a:solidFill>
                <a:srgbClr val="E39B3B"/>
              </a:solidFill>
              <a:effectLst/>
            </c:spPr>
            <c:extLst>
              <c:ext xmlns:c16="http://schemas.microsoft.com/office/drawing/2014/chart" uri="{C3380CC4-5D6E-409C-BE32-E72D297353CC}">
                <c16:uniqueId val="{00000003-713F-4EF4-A052-9864F3158A5B}"/>
              </c:ext>
            </c:extLst>
          </c:dPt>
          <c:dPt>
            <c:idx val="2"/>
            <c:invertIfNegative val="0"/>
            <c:bubble3D val="0"/>
            <c:extLst>
              <c:ext xmlns:c16="http://schemas.microsoft.com/office/drawing/2014/chart" uri="{C3380CC4-5D6E-409C-BE32-E72D297353CC}">
                <c16:uniqueId val="{00000005-713F-4EF4-A052-9864F3158A5B}"/>
              </c:ext>
            </c:extLst>
          </c:dPt>
          <c:dLbls>
            <c:numFmt formatCode="0.000" sourceLinked="0"/>
            <c:spPr>
              <a:noFill/>
              <a:ln>
                <a:noFill/>
              </a:ln>
              <a:effectLst/>
            </c:spPr>
            <c:txPr>
              <a:bodyPr/>
              <a:lstStyle/>
              <a:p>
                <a:pPr>
                  <a:defRPr sz="10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Vanilla</c:v>
                </c:pt>
                <c:pt idx="1">
                  <c:v>CIFG</c:v>
                </c:pt>
                <c:pt idx="2">
                  <c:v>LSTMP</c:v>
                </c:pt>
              </c:strCache>
            </c:strRef>
          </c:cat>
          <c:val>
            <c:numRef>
              <c:f>Sheet1!$B$2:$B$4</c:f>
              <c:numCache>
                <c:formatCode>General</c:formatCode>
                <c:ptCount val="3"/>
                <c:pt idx="0">
                  <c:v>0.75600000000000001</c:v>
                </c:pt>
                <c:pt idx="1">
                  <c:v>0.76100000000000001</c:v>
                </c:pt>
                <c:pt idx="2">
                  <c:v>0.749</c:v>
                </c:pt>
              </c:numCache>
            </c:numRef>
          </c:val>
          <c:extLst>
            <c:ext xmlns:c16="http://schemas.microsoft.com/office/drawing/2014/chart" uri="{C3380CC4-5D6E-409C-BE32-E72D297353CC}">
              <c16:uniqueId val="{00000006-713F-4EF4-A052-9864F3158A5B}"/>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0.78"/>
          <c:min val="0.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9FB8826-DA96-452C-9E11-B158AA6BB894}" type="datetimeFigureOut">
              <a:t>10/27/2026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DD1452C-978A-4189-B810-6FC37FDB36E3}" type="slidenum">
              <a:t>‹#›</a:t>
            </a:fld>
            <a:endParaRPr lang="en-US"/>
          </a:p>
        </p:txBody>
      </p:sp>
    </p:spTree>
    <p:extLst>
      <p:ext uri="{BB962C8B-B14F-4D97-AF65-F5344CB8AC3E}">
        <p14:creationId xmlns:p14="http://schemas.microsoft.com/office/powerpoint/2010/main" val="3838890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7863840" cy="14630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926080"/>
            <a:ext cx="7863840" cy="1280160"/>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7863840" cy="1463040"/>
          </a:xfrm>
          <a:prstGeom prst="rect">
            <a:avLst/>
          </a:prstGeom>
          <a:noFill/>
          <a:ln/>
        </p:spPr>
        <p:txBody>
          <a:bodyPr wrap="square" rtlCol="0" anchor="b"/>
          <a:lstStyle/>
          <a:p>
            <a:pPr marL="0" indent="0" algn="l">
              <a:buNone/>
            </a:pPr>
            <a:r>
              <a:rPr lang="en-US" sz="3800" b="1" dirty="0">
                <a:solidFill>
                  <a:schemeClr val="bg1"/>
                </a:solidFill>
              </a:rPr>
              <a:t>Drug Review Classification with Custom LSTM Cells</a:t>
            </a:r>
            <a:endParaRPr lang="en-US" sz="3800" dirty="0"/>
          </a:p>
        </p:txBody>
      </p:sp>
      <p:sp>
        <p:nvSpPr>
          <p:cNvPr id="3" name="Text 0"/>
          <p:cNvSpPr>
            <a:spLocks noGrp="1"/>
          </p:cNvSpPr>
          <p:nvPr>
            <p:ph type="body" idx="101" hasCustomPrompt="1"/>
          </p:nvPr>
        </p:nvSpPr>
        <p:spPr>
          <a:xfrm>
            <a:off x="640080" y="2926080"/>
            <a:ext cx="7863840" cy="1280160"/>
          </a:xfrm>
          <a:prstGeom prst="rect">
            <a:avLst/>
          </a:prstGeom>
          <a:noFill/>
          <a:ln/>
        </p:spPr>
        <p:txBody>
          <a:bodyPr wrap="square" lIns="91440" tIns="45720" rIns="91440" bIns="45720" rtlCol="0" anchor="t"/>
          <a:lstStyle/>
          <a:p>
            <a:pPr marL="0" indent="0" algn="l">
              <a:buNone/>
            </a:pPr>
            <a:r>
              <a:rPr lang="en-US" sz="1500" dirty="0"/>
              <a:t>Group members : Aouami Salma, Zineb Arrami, Hiba Arbaoui, Ayyadi Marwa, Yahya Abou Elaziz, </a:t>
            </a:r>
            <a:r>
              <a:rPr lang="en-US" sz="1500"/>
              <a:t>Hanae Ouazzani Amri.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Goal of the task</a:t>
            </a:r>
            <a:endParaRPr lang="en-US" sz="3000" dirty="0"/>
          </a:p>
        </p:txBody>
      </p:sp>
      <p:sp>
        <p:nvSpPr>
          <p:cNvPr id="3" name="goal text"/>
          <p:cNvSpPr txBox="1"/>
          <p:nvPr/>
        </p:nvSpPr>
        <p:spPr>
          <a:xfrm>
            <a:off x="457200" y="1188720"/>
            <a:ext cx="4480560" cy="3474720"/>
          </a:xfrm>
          <a:prstGeom prst="rect">
            <a:avLst/>
          </a:prstGeom>
          <a:noFill/>
          <a:ln/>
        </p:spPr>
        <p:txBody>
          <a:bodyPr wrap="square" lIns="0" tIns="0" rIns="0" bIns="0" rtlCol="0" anchor="t"/>
          <a:lstStyle/>
          <a:p>
            <a:pPr marL="0" indent="0" algn="just">
              <a:lnSpc>
                <a:spcPct val="150000"/>
              </a:lnSpc>
              <a:spcAft>
                <a:spcPts val="600"/>
              </a:spcAft>
              <a:buNone/>
            </a:pPr>
            <a:r>
              <a:rPr lang="en-US" sz="1500" dirty="0"/>
              <a:t>Our task is to read a patient’s review of a drug and predict how they felt about it. The dataset gives a rating from one to ten, which we turn into three classes: negative, neutral and positive. We implemented every cell with </a:t>
            </a:r>
            <a:r>
              <a:rPr lang="en-US" sz="1500" dirty="0" err="1"/>
              <a:t>nn.Linear</a:t>
            </a:r>
            <a:r>
              <a:rPr lang="en-US" sz="1500" dirty="0"/>
              <a:t>, without using </a:t>
            </a:r>
            <a:r>
              <a:rPr lang="en-US" sz="1500" dirty="0" err="1"/>
              <a:t>nn.LSTM</a:t>
            </a:r>
            <a:r>
              <a:rPr lang="en-US" sz="1500" dirty="0"/>
              <a:t>. We compared a vanilla LSTM with two variants, CIFG and LSTMP, and studied the effect of several hyperparameters.</a:t>
            </a:r>
            <a:endParaRPr lang="en-US">
              <a:ea typeface="Calibri"/>
              <a:cs typeface="Calibri"/>
            </a:endParaRPr>
          </a:p>
        </p:txBody>
      </p:sp>
      <p:sp>
        <p:nvSpPr>
          <p:cNvPr id="4" name="rating card"/>
          <p:cNvSpPr/>
          <p:nvPr/>
        </p:nvSpPr>
        <p:spPr>
          <a:xfrm>
            <a:off x="5303520" y="1188720"/>
            <a:ext cx="3383280" cy="3383280"/>
          </a:xfrm>
          <a:prstGeom prst="roundRect">
            <a:avLst>
              <a:gd name="adj" fmla="val 3243"/>
            </a:avLst>
          </a:prstGeom>
          <a:solidFill>
            <a:schemeClr val="bg2"/>
          </a:solidFill>
          <a:ln/>
        </p:spPr>
      </p:sp>
      <p:sp>
        <p:nvSpPr>
          <p:cNvPr id="5" name="rating heading"/>
          <p:cNvSpPr txBox="1"/>
          <p:nvPr/>
        </p:nvSpPr>
        <p:spPr>
          <a:xfrm>
            <a:off x="5486400" y="1325880"/>
            <a:ext cx="3017520" cy="365760"/>
          </a:xfrm>
          <a:prstGeom prst="rect">
            <a:avLst/>
          </a:prstGeom>
          <a:noFill/>
          <a:ln/>
        </p:spPr>
        <p:txBody>
          <a:bodyPr wrap="square" lIns="0" tIns="0" rIns="0" bIns="0" rtlCol="0" anchor="ctr"/>
          <a:lstStyle/>
          <a:p>
            <a:pPr marL="0" indent="0">
              <a:buNone/>
            </a:pPr>
            <a:r>
              <a:rPr lang="en-US" sz="1400" b="1" dirty="0">
                <a:solidFill>
                  <a:schemeClr val="tx2"/>
                </a:solidFill>
              </a:rPr>
              <a:t>Rating → class</a:t>
            </a:r>
            <a:endParaRPr lang="en-US" sz="1400" dirty="0"/>
          </a:p>
        </p:txBody>
      </p:sp>
      <p:sp>
        <p:nvSpPr>
          <p:cNvPr id="6" name="rating 1"/>
          <p:cNvSpPr/>
          <p:nvPr/>
        </p:nvSpPr>
        <p:spPr>
          <a:xfrm>
            <a:off x="5486400" y="1874520"/>
            <a:ext cx="265176" cy="384048"/>
          </a:xfrm>
          <a:prstGeom prst="roundRect">
            <a:avLst>
              <a:gd name="adj" fmla="val 17241"/>
            </a:avLst>
          </a:prstGeom>
          <a:solidFill>
            <a:schemeClr val="accent3"/>
          </a:solidFill>
          <a:ln/>
        </p:spPr>
      </p:sp>
      <p:sp>
        <p:nvSpPr>
          <p:cNvPr id="7" name="rating num 1"/>
          <p:cNvSpPr txBox="1"/>
          <p:nvPr/>
        </p:nvSpPr>
        <p:spPr>
          <a:xfrm>
            <a:off x="5486400"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8" name="rating 2"/>
          <p:cNvSpPr/>
          <p:nvPr/>
        </p:nvSpPr>
        <p:spPr>
          <a:xfrm>
            <a:off x="5788152" y="1874520"/>
            <a:ext cx="265176" cy="384048"/>
          </a:xfrm>
          <a:prstGeom prst="roundRect">
            <a:avLst>
              <a:gd name="adj" fmla="val 17241"/>
            </a:avLst>
          </a:prstGeom>
          <a:solidFill>
            <a:schemeClr val="accent3"/>
          </a:solidFill>
          <a:ln/>
        </p:spPr>
      </p:sp>
      <p:sp>
        <p:nvSpPr>
          <p:cNvPr id="9" name="rating num 2"/>
          <p:cNvSpPr txBox="1"/>
          <p:nvPr/>
        </p:nvSpPr>
        <p:spPr>
          <a:xfrm>
            <a:off x="5788152"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0" name="rating 3"/>
          <p:cNvSpPr/>
          <p:nvPr/>
        </p:nvSpPr>
        <p:spPr>
          <a:xfrm>
            <a:off x="6089904" y="1874520"/>
            <a:ext cx="265176" cy="384048"/>
          </a:xfrm>
          <a:prstGeom prst="roundRect">
            <a:avLst>
              <a:gd name="adj" fmla="val 17241"/>
            </a:avLst>
          </a:prstGeom>
          <a:solidFill>
            <a:schemeClr val="accent3"/>
          </a:solidFill>
          <a:ln/>
        </p:spPr>
      </p:sp>
      <p:sp>
        <p:nvSpPr>
          <p:cNvPr id="11" name="rating num 3"/>
          <p:cNvSpPr txBox="1"/>
          <p:nvPr/>
        </p:nvSpPr>
        <p:spPr>
          <a:xfrm>
            <a:off x="6089904"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2" name="rating 4"/>
          <p:cNvSpPr/>
          <p:nvPr/>
        </p:nvSpPr>
        <p:spPr>
          <a:xfrm>
            <a:off x="6391656" y="1874520"/>
            <a:ext cx="265176" cy="384048"/>
          </a:xfrm>
          <a:prstGeom prst="roundRect">
            <a:avLst>
              <a:gd name="adj" fmla="val 17241"/>
            </a:avLst>
          </a:prstGeom>
          <a:solidFill>
            <a:schemeClr val="accent3"/>
          </a:solidFill>
          <a:ln/>
        </p:spPr>
      </p:sp>
      <p:sp>
        <p:nvSpPr>
          <p:cNvPr id="13" name="rating num 4"/>
          <p:cNvSpPr txBox="1"/>
          <p:nvPr/>
        </p:nvSpPr>
        <p:spPr>
          <a:xfrm>
            <a:off x="6391656"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4" name="rating 5"/>
          <p:cNvSpPr/>
          <p:nvPr/>
        </p:nvSpPr>
        <p:spPr>
          <a:xfrm>
            <a:off x="6693408" y="1874520"/>
            <a:ext cx="265176" cy="384048"/>
          </a:xfrm>
          <a:prstGeom prst="roundRect">
            <a:avLst>
              <a:gd name="adj" fmla="val 17241"/>
            </a:avLst>
          </a:prstGeom>
          <a:solidFill>
            <a:schemeClr val="accent2"/>
          </a:solidFill>
          <a:ln/>
        </p:spPr>
      </p:sp>
      <p:sp>
        <p:nvSpPr>
          <p:cNvPr id="15" name="rating num 5"/>
          <p:cNvSpPr txBox="1"/>
          <p:nvPr/>
        </p:nvSpPr>
        <p:spPr>
          <a:xfrm>
            <a:off x="6693408"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16" name="rating 6"/>
          <p:cNvSpPr/>
          <p:nvPr/>
        </p:nvSpPr>
        <p:spPr>
          <a:xfrm>
            <a:off x="6995160" y="1874520"/>
            <a:ext cx="265176" cy="384048"/>
          </a:xfrm>
          <a:prstGeom prst="roundRect">
            <a:avLst>
              <a:gd name="adj" fmla="val 17241"/>
            </a:avLst>
          </a:prstGeom>
          <a:solidFill>
            <a:schemeClr val="accent2"/>
          </a:solidFill>
          <a:ln/>
        </p:spPr>
      </p:sp>
      <p:sp>
        <p:nvSpPr>
          <p:cNvPr id="17" name="rating num 6"/>
          <p:cNvSpPr txBox="1"/>
          <p:nvPr/>
        </p:nvSpPr>
        <p:spPr>
          <a:xfrm>
            <a:off x="6995160"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18" name="rating 7"/>
          <p:cNvSpPr/>
          <p:nvPr/>
        </p:nvSpPr>
        <p:spPr>
          <a:xfrm>
            <a:off x="7296912" y="1874520"/>
            <a:ext cx="265176" cy="384048"/>
          </a:xfrm>
          <a:prstGeom prst="roundRect">
            <a:avLst>
              <a:gd name="adj" fmla="val 17241"/>
            </a:avLst>
          </a:prstGeom>
          <a:solidFill>
            <a:schemeClr val="accent1"/>
          </a:solidFill>
          <a:ln/>
        </p:spPr>
      </p:sp>
      <p:sp>
        <p:nvSpPr>
          <p:cNvPr id="19" name="rating num 7"/>
          <p:cNvSpPr txBox="1"/>
          <p:nvPr/>
        </p:nvSpPr>
        <p:spPr>
          <a:xfrm>
            <a:off x="7296912"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20" name="rating 8"/>
          <p:cNvSpPr/>
          <p:nvPr/>
        </p:nvSpPr>
        <p:spPr>
          <a:xfrm>
            <a:off x="7598664" y="1874520"/>
            <a:ext cx="265176" cy="384048"/>
          </a:xfrm>
          <a:prstGeom prst="roundRect">
            <a:avLst>
              <a:gd name="adj" fmla="val 17241"/>
            </a:avLst>
          </a:prstGeom>
          <a:solidFill>
            <a:schemeClr val="accent1"/>
          </a:solidFill>
          <a:ln/>
        </p:spPr>
      </p:sp>
      <p:sp>
        <p:nvSpPr>
          <p:cNvPr id="21" name="rating num 8"/>
          <p:cNvSpPr txBox="1"/>
          <p:nvPr/>
        </p:nvSpPr>
        <p:spPr>
          <a:xfrm>
            <a:off x="7598664"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8</a:t>
            </a:r>
            <a:endParaRPr lang="en-US" sz="1100" dirty="0"/>
          </a:p>
        </p:txBody>
      </p:sp>
      <p:sp>
        <p:nvSpPr>
          <p:cNvPr id="22" name="rating 9"/>
          <p:cNvSpPr/>
          <p:nvPr/>
        </p:nvSpPr>
        <p:spPr>
          <a:xfrm>
            <a:off x="7900416" y="1874520"/>
            <a:ext cx="265176" cy="384048"/>
          </a:xfrm>
          <a:prstGeom prst="roundRect">
            <a:avLst>
              <a:gd name="adj" fmla="val 17241"/>
            </a:avLst>
          </a:prstGeom>
          <a:solidFill>
            <a:schemeClr val="accent1"/>
          </a:solidFill>
          <a:ln/>
        </p:spPr>
      </p:sp>
      <p:sp>
        <p:nvSpPr>
          <p:cNvPr id="23" name="rating num 9"/>
          <p:cNvSpPr txBox="1"/>
          <p:nvPr/>
        </p:nvSpPr>
        <p:spPr>
          <a:xfrm>
            <a:off x="7900416"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9</a:t>
            </a:r>
            <a:endParaRPr lang="en-US" sz="1100" dirty="0"/>
          </a:p>
        </p:txBody>
      </p:sp>
      <p:sp>
        <p:nvSpPr>
          <p:cNvPr id="24" name="rating 10"/>
          <p:cNvSpPr/>
          <p:nvPr/>
        </p:nvSpPr>
        <p:spPr>
          <a:xfrm>
            <a:off x="8202168" y="1874520"/>
            <a:ext cx="265176" cy="384048"/>
          </a:xfrm>
          <a:prstGeom prst="roundRect">
            <a:avLst>
              <a:gd name="adj" fmla="val 17241"/>
            </a:avLst>
          </a:prstGeom>
          <a:solidFill>
            <a:schemeClr val="accent1"/>
          </a:solidFill>
          <a:ln/>
        </p:spPr>
      </p:sp>
      <p:sp>
        <p:nvSpPr>
          <p:cNvPr id="25" name="rating num 10"/>
          <p:cNvSpPr txBox="1"/>
          <p:nvPr/>
        </p:nvSpPr>
        <p:spPr>
          <a:xfrm>
            <a:off x="8202168" y="1874520"/>
            <a:ext cx="265176" cy="384048"/>
          </a:xfrm>
          <a:prstGeom prst="rect">
            <a:avLst/>
          </a:prstGeom>
          <a:noFill/>
          <a:ln/>
        </p:spPr>
        <p:txBody>
          <a:bodyPr wrap="square" lIns="0" tIns="0" rIns="0" bIns="0" rtlCol="0" anchor="ctr"/>
          <a:lstStyle/>
          <a:p>
            <a:pPr marL="0" indent="0" algn="ctr">
              <a:buNone/>
            </a:pPr>
            <a:r>
              <a:rPr lang="en-US" sz="1100" b="1" dirty="0">
                <a:solidFill>
                  <a:schemeClr val="bg1"/>
                </a:solidFill>
              </a:rPr>
              <a:t>10</a:t>
            </a:r>
            <a:endParaRPr lang="en-US" sz="1100" dirty="0"/>
          </a:p>
        </p:txBody>
      </p:sp>
      <p:sp>
        <p:nvSpPr>
          <p:cNvPr id="26" name="legend dot Negative"/>
          <p:cNvSpPr/>
          <p:nvPr/>
        </p:nvSpPr>
        <p:spPr>
          <a:xfrm>
            <a:off x="5486400" y="2633472"/>
            <a:ext cx="274320" cy="274320"/>
          </a:xfrm>
          <a:prstGeom prst="ellipse">
            <a:avLst/>
          </a:prstGeom>
          <a:solidFill>
            <a:schemeClr val="accent3"/>
          </a:solidFill>
          <a:ln/>
        </p:spPr>
      </p:sp>
      <p:sp>
        <p:nvSpPr>
          <p:cNvPr id="27" name="legend Negative"/>
          <p:cNvSpPr txBox="1"/>
          <p:nvPr/>
        </p:nvSpPr>
        <p:spPr>
          <a:xfrm>
            <a:off x="5897880" y="2560320"/>
            <a:ext cx="2651760" cy="420624"/>
          </a:xfrm>
          <a:prstGeom prst="rect">
            <a:avLst/>
          </a:prstGeom>
          <a:noFill/>
          <a:ln/>
        </p:spPr>
        <p:txBody>
          <a:bodyPr wrap="square" lIns="0" tIns="0" rIns="0" bIns="0" rtlCol="0" anchor="ctr"/>
          <a:lstStyle/>
          <a:p>
            <a:pPr marL="0" indent="0">
              <a:buNone/>
            </a:pPr>
            <a:r>
              <a:rPr lang="en-US" sz="1400" b="1" dirty="0">
                <a:solidFill>
                  <a:schemeClr val="tx1"/>
                </a:solidFill>
              </a:rPr>
              <a:t>Negative  </a:t>
            </a:r>
            <a:r>
              <a:rPr lang="en-US" sz="1400" dirty="0">
                <a:solidFill>
                  <a:schemeClr val="accent5"/>
                </a:solidFill>
              </a:rPr>
              <a:t>1 – 4</a:t>
            </a:r>
            <a:endParaRPr lang="en-US" sz="1400" dirty="0"/>
          </a:p>
        </p:txBody>
      </p:sp>
      <p:sp>
        <p:nvSpPr>
          <p:cNvPr id="28" name="legend dot Neutral"/>
          <p:cNvSpPr/>
          <p:nvPr/>
        </p:nvSpPr>
        <p:spPr>
          <a:xfrm>
            <a:off x="5486400" y="3255264"/>
            <a:ext cx="274320" cy="274320"/>
          </a:xfrm>
          <a:prstGeom prst="ellipse">
            <a:avLst/>
          </a:prstGeom>
          <a:solidFill>
            <a:schemeClr val="accent2"/>
          </a:solidFill>
          <a:ln/>
        </p:spPr>
      </p:sp>
      <p:sp>
        <p:nvSpPr>
          <p:cNvPr id="29" name="legend Neutral"/>
          <p:cNvSpPr txBox="1"/>
          <p:nvPr/>
        </p:nvSpPr>
        <p:spPr>
          <a:xfrm>
            <a:off x="5897880" y="3182112"/>
            <a:ext cx="2651760" cy="420624"/>
          </a:xfrm>
          <a:prstGeom prst="rect">
            <a:avLst/>
          </a:prstGeom>
          <a:noFill/>
          <a:ln/>
        </p:spPr>
        <p:txBody>
          <a:bodyPr wrap="square" lIns="0" tIns="0" rIns="0" bIns="0" rtlCol="0" anchor="ctr"/>
          <a:lstStyle/>
          <a:p>
            <a:pPr marL="0" indent="0">
              <a:buNone/>
            </a:pPr>
            <a:r>
              <a:rPr lang="en-US" sz="1400" b="1" dirty="0">
                <a:solidFill>
                  <a:schemeClr val="tx1"/>
                </a:solidFill>
              </a:rPr>
              <a:t>Neutral  </a:t>
            </a:r>
            <a:r>
              <a:rPr lang="en-US" sz="1400" dirty="0">
                <a:solidFill>
                  <a:schemeClr val="accent5"/>
                </a:solidFill>
              </a:rPr>
              <a:t>5 – 6</a:t>
            </a:r>
            <a:endParaRPr lang="en-US" sz="1400" dirty="0"/>
          </a:p>
        </p:txBody>
      </p:sp>
      <p:sp>
        <p:nvSpPr>
          <p:cNvPr id="30" name="legend dot Positive"/>
          <p:cNvSpPr/>
          <p:nvPr/>
        </p:nvSpPr>
        <p:spPr>
          <a:xfrm>
            <a:off x="5486400" y="3877056"/>
            <a:ext cx="274320" cy="274320"/>
          </a:xfrm>
          <a:prstGeom prst="ellipse">
            <a:avLst/>
          </a:prstGeom>
          <a:solidFill>
            <a:schemeClr val="accent1"/>
          </a:solidFill>
          <a:ln/>
        </p:spPr>
      </p:sp>
      <p:sp>
        <p:nvSpPr>
          <p:cNvPr id="31" name="legend Positive"/>
          <p:cNvSpPr txBox="1"/>
          <p:nvPr/>
        </p:nvSpPr>
        <p:spPr>
          <a:xfrm>
            <a:off x="5897880" y="3803904"/>
            <a:ext cx="2651760" cy="420624"/>
          </a:xfrm>
          <a:prstGeom prst="rect">
            <a:avLst/>
          </a:prstGeom>
          <a:noFill/>
          <a:ln/>
        </p:spPr>
        <p:txBody>
          <a:bodyPr wrap="square" lIns="0" tIns="0" rIns="0" bIns="0" rtlCol="0" anchor="ctr"/>
          <a:lstStyle/>
          <a:p>
            <a:pPr marL="0" indent="0">
              <a:buNone/>
            </a:pPr>
            <a:r>
              <a:rPr lang="en-US" sz="1400" b="1" dirty="0">
                <a:solidFill>
                  <a:schemeClr val="tx1"/>
                </a:solidFill>
              </a:rPr>
              <a:t>Positive  </a:t>
            </a:r>
            <a:r>
              <a:rPr lang="en-US" sz="1400" dirty="0">
                <a:solidFill>
                  <a:schemeClr val="accent5"/>
                </a:solidFill>
              </a:rPr>
              <a:t>7 – 10</a:t>
            </a:r>
            <a:endParaRPr lang="en-US" sz="1400" dirty="0"/>
          </a:p>
        </p:txBody>
      </p:sp>
      <p:sp>
        <p:nvSpPr>
          <p:cNvPr id="32"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Exploratory data analysis</a:t>
            </a:r>
            <a:endParaRPr lang="en-US" sz="3000" dirty="0"/>
          </a:p>
        </p:txBody>
      </p:sp>
      <p:sp>
        <p:nvSpPr>
          <p:cNvPr id="3" name="eda text"/>
          <p:cNvSpPr txBox="1"/>
          <p:nvPr/>
        </p:nvSpPr>
        <p:spPr>
          <a:xfrm>
            <a:off x="457200" y="1188720"/>
            <a:ext cx="4480560" cy="3474720"/>
          </a:xfrm>
          <a:prstGeom prst="rect">
            <a:avLst/>
          </a:prstGeom>
          <a:noFill/>
          <a:ln/>
        </p:spPr>
        <p:txBody>
          <a:bodyPr wrap="square" lIns="0" tIns="0" rIns="0" bIns="0" rtlCol="0" anchor="t"/>
          <a:lstStyle/>
          <a:p>
            <a:pPr marL="0" indent="0" algn="just">
              <a:lnSpc>
                <a:spcPct val="150000"/>
              </a:lnSpc>
              <a:spcAft>
                <a:spcPts val="600"/>
              </a:spcAft>
              <a:buNone/>
            </a:pPr>
            <a:r>
              <a:rPr lang="en-US" sz="1500" dirty="0"/>
              <a:t>We have 145,167 training reviews, 16,130 for validation and 53,766 for testing. The data is very unbalanced: 66%  of the reviews are positive and only 9% are neutral. </a:t>
            </a:r>
            <a:r>
              <a:rPr lang="en-US" sz="1500" dirty="0" err="1"/>
              <a:t>So</a:t>
            </a:r>
            <a:r>
              <a:rPr lang="en-US" sz="1500" dirty="0"/>
              <a:t> we use macro-F1 as our main metric, because accuracy would reward a model that always says “positive”. Reviews are short, 85 tokens on average, so we cut them at 150 tokens, which keeps 98% of them whole.</a:t>
            </a:r>
            <a:endParaRPr lang="en-US">
              <a:ea typeface="Calibri"/>
              <a:cs typeface="Calibri"/>
            </a:endParaRPr>
          </a:p>
        </p:txBody>
      </p:sp>
      <p:sp>
        <p:nvSpPr>
          <p:cNvPr id="4" name="stat train"/>
          <p:cNvSpPr/>
          <p:nvPr/>
        </p:nvSpPr>
        <p:spPr>
          <a:xfrm>
            <a:off x="5303520" y="1188720"/>
            <a:ext cx="1051560" cy="868680"/>
          </a:xfrm>
          <a:prstGeom prst="roundRect">
            <a:avLst>
              <a:gd name="adj" fmla="val 12632"/>
            </a:avLst>
          </a:prstGeom>
          <a:solidFill>
            <a:schemeClr val="bg2"/>
          </a:solidFill>
          <a:ln/>
        </p:spPr>
      </p:sp>
      <p:sp>
        <p:nvSpPr>
          <p:cNvPr id="5" name="stat train text"/>
          <p:cNvSpPr txBox="1"/>
          <p:nvPr/>
        </p:nvSpPr>
        <p:spPr>
          <a:xfrm>
            <a:off x="5440680" y="1261872"/>
            <a:ext cx="777240" cy="731520"/>
          </a:xfrm>
          <a:prstGeom prst="rect">
            <a:avLst/>
          </a:prstGeom>
          <a:noFill/>
          <a:ln/>
        </p:spPr>
        <p:txBody>
          <a:bodyPr wrap="square" lIns="0" tIns="0" rIns="0" bIns="0" rtlCol="0" anchor="ctr"/>
          <a:lstStyle/>
          <a:p>
            <a:pPr marL="0" indent="0">
              <a:buNone/>
            </a:pPr>
            <a:r>
              <a:rPr lang="en-US" sz="2400" b="1" dirty="0">
                <a:solidFill>
                  <a:schemeClr val="tx2"/>
                </a:solidFill>
                <a:latin typeface="Calibri" pitchFamily="34" charset="0"/>
                <a:ea typeface="Calibri" pitchFamily="34" charset="-122"/>
                <a:cs typeface="Calibri" pitchFamily="34" charset="-120"/>
              </a:rPr>
              <a:t>145k</a:t>
            </a:r>
            <a:endParaRPr lang="en-US" sz="2400" dirty="0"/>
          </a:p>
          <a:p>
            <a:pPr marL="0" indent="0">
              <a:buNone/>
            </a:pPr>
            <a:r>
              <a:rPr lang="en-US" sz="1100" dirty="0">
                <a:solidFill>
                  <a:schemeClr val="accent5"/>
                </a:solidFill>
              </a:rPr>
              <a:t>train</a:t>
            </a:r>
            <a:endParaRPr lang="en-US" sz="2400" dirty="0"/>
          </a:p>
        </p:txBody>
      </p:sp>
      <p:sp>
        <p:nvSpPr>
          <p:cNvPr id="6" name="stat val"/>
          <p:cNvSpPr/>
          <p:nvPr/>
        </p:nvSpPr>
        <p:spPr>
          <a:xfrm>
            <a:off x="6464808" y="1188720"/>
            <a:ext cx="1051560" cy="868680"/>
          </a:xfrm>
          <a:prstGeom prst="roundRect">
            <a:avLst>
              <a:gd name="adj" fmla="val 12632"/>
            </a:avLst>
          </a:prstGeom>
          <a:solidFill>
            <a:schemeClr val="bg2"/>
          </a:solidFill>
          <a:ln/>
        </p:spPr>
      </p:sp>
      <p:sp>
        <p:nvSpPr>
          <p:cNvPr id="7" name="stat val text"/>
          <p:cNvSpPr txBox="1"/>
          <p:nvPr/>
        </p:nvSpPr>
        <p:spPr>
          <a:xfrm>
            <a:off x="6601968" y="1261872"/>
            <a:ext cx="777240" cy="731520"/>
          </a:xfrm>
          <a:prstGeom prst="rect">
            <a:avLst/>
          </a:prstGeom>
          <a:noFill/>
          <a:ln/>
        </p:spPr>
        <p:txBody>
          <a:bodyPr wrap="square" lIns="0" tIns="0" rIns="0" bIns="0" rtlCol="0" anchor="ctr"/>
          <a:lstStyle/>
          <a:p>
            <a:pPr marL="0" indent="0">
              <a:buNone/>
            </a:pPr>
            <a:r>
              <a:rPr lang="en-US" sz="2400" b="1" dirty="0">
                <a:solidFill>
                  <a:schemeClr val="tx2"/>
                </a:solidFill>
                <a:latin typeface="Calibri" pitchFamily="34" charset="0"/>
                <a:ea typeface="Calibri" pitchFamily="34" charset="-122"/>
                <a:cs typeface="Calibri" pitchFamily="34" charset="-120"/>
              </a:rPr>
              <a:t>16k</a:t>
            </a:r>
            <a:endParaRPr lang="en-US" sz="2400" dirty="0"/>
          </a:p>
          <a:p>
            <a:pPr marL="0" indent="0">
              <a:buNone/>
            </a:pPr>
            <a:r>
              <a:rPr lang="en-US" sz="1100" dirty="0">
                <a:solidFill>
                  <a:schemeClr val="accent5"/>
                </a:solidFill>
              </a:rPr>
              <a:t>validation</a:t>
            </a:r>
            <a:endParaRPr lang="en-US" sz="2400" dirty="0"/>
          </a:p>
        </p:txBody>
      </p:sp>
      <p:sp>
        <p:nvSpPr>
          <p:cNvPr id="8" name="stat test"/>
          <p:cNvSpPr/>
          <p:nvPr/>
        </p:nvSpPr>
        <p:spPr>
          <a:xfrm>
            <a:off x="7626096" y="1188720"/>
            <a:ext cx="1060704" cy="868680"/>
          </a:xfrm>
          <a:prstGeom prst="roundRect">
            <a:avLst>
              <a:gd name="adj" fmla="val 12632"/>
            </a:avLst>
          </a:prstGeom>
          <a:solidFill>
            <a:schemeClr val="bg2"/>
          </a:solidFill>
          <a:ln/>
        </p:spPr>
      </p:sp>
      <p:sp>
        <p:nvSpPr>
          <p:cNvPr id="9" name="stat test text"/>
          <p:cNvSpPr txBox="1"/>
          <p:nvPr/>
        </p:nvSpPr>
        <p:spPr>
          <a:xfrm>
            <a:off x="7763256" y="1261872"/>
            <a:ext cx="786384" cy="731520"/>
          </a:xfrm>
          <a:prstGeom prst="rect">
            <a:avLst/>
          </a:prstGeom>
          <a:noFill/>
          <a:ln/>
        </p:spPr>
        <p:txBody>
          <a:bodyPr wrap="square" lIns="0" tIns="0" rIns="0" bIns="0" rtlCol="0" anchor="ctr"/>
          <a:lstStyle/>
          <a:p>
            <a:pPr marL="0" indent="0">
              <a:buNone/>
            </a:pPr>
            <a:r>
              <a:rPr lang="en-US" sz="2400" b="1" dirty="0">
                <a:solidFill>
                  <a:schemeClr val="tx2"/>
                </a:solidFill>
                <a:latin typeface="Calibri" pitchFamily="34" charset="0"/>
                <a:ea typeface="Calibri" pitchFamily="34" charset="-122"/>
                <a:cs typeface="Calibri" pitchFamily="34" charset="-120"/>
              </a:rPr>
              <a:t>54k</a:t>
            </a:r>
            <a:endParaRPr lang="en-US" sz="2400" dirty="0"/>
          </a:p>
          <a:p>
            <a:pPr marL="0" indent="0">
              <a:buNone/>
            </a:pPr>
            <a:r>
              <a:rPr lang="en-US" sz="1100" dirty="0">
                <a:solidFill>
                  <a:schemeClr val="accent5"/>
                </a:solidFill>
              </a:rPr>
              <a:t>test</a:t>
            </a:r>
            <a:endParaRPr lang="en-US" sz="2400" dirty="0"/>
          </a:p>
        </p:txBody>
      </p:sp>
      <p:sp>
        <p:nvSpPr>
          <p:cNvPr id="10" name="balance card"/>
          <p:cNvSpPr/>
          <p:nvPr/>
        </p:nvSpPr>
        <p:spPr>
          <a:xfrm>
            <a:off x="5303520" y="2240280"/>
            <a:ext cx="3383280" cy="1234440"/>
          </a:xfrm>
          <a:prstGeom prst="roundRect">
            <a:avLst>
              <a:gd name="adj" fmla="val 8889"/>
            </a:avLst>
          </a:prstGeom>
          <a:solidFill>
            <a:schemeClr val="bg2"/>
          </a:solidFill>
          <a:ln/>
        </p:spPr>
      </p:sp>
      <p:sp>
        <p:nvSpPr>
          <p:cNvPr id="11" name="balance heading"/>
          <p:cNvSpPr txBox="1"/>
          <p:nvPr/>
        </p:nvSpPr>
        <p:spPr>
          <a:xfrm>
            <a:off x="5486400" y="2331720"/>
            <a:ext cx="3017520" cy="274320"/>
          </a:xfrm>
          <a:prstGeom prst="rect">
            <a:avLst/>
          </a:prstGeom>
          <a:noFill/>
          <a:ln/>
        </p:spPr>
        <p:txBody>
          <a:bodyPr wrap="square" lIns="0" tIns="0" rIns="0" bIns="0" rtlCol="0" anchor="ctr"/>
          <a:lstStyle/>
          <a:p>
            <a:pPr marL="0" indent="0">
              <a:buNone/>
            </a:pPr>
            <a:r>
              <a:rPr lang="en-US" sz="1200" b="1" dirty="0">
                <a:solidFill>
                  <a:schemeClr val="tx2"/>
                </a:solidFill>
              </a:rPr>
              <a:t>Class balance</a:t>
            </a:r>
            <a:endParaRPr lang="en-US" sz="1200" dirty="0"/>
          </a:p>
        </p:txBody>
      </p:sp>
      <p:sp>
        <p:nvSpPr>
          <p:cNvPr id="12" name="balance seg 0"/>
          <p:cNvSpPr/>
          <p:nvPr/>
        </p:nvSpPr>
        <p:spPr>
          <a:xfrm>
            <a:off x="5486400" y="2697480"/>
            <a:ext cx="754380" cy="365760"/>
          </a:xfrm>
          <a:prstGeom prst="rect">
            <a:avLst/>
          </a:prstGeom>
          <a:solidFill>
            <a:schemeClr val="accent3"/>
          </a:solidFill>
          <a:ln/>
        </p:spPr>
      </p:sp>
      <p:sp>
        <p:nvSpPr>
          <p:cNvPr id="13" name="balance seg 1"/>
          <p:cNvSpPr/>
          <p:nvPr/>
        </p:nvSpPr>
        <p:spPr>
          <a:xfrm>
            <a:off x="6240780" y="2697480"/>
            <a:ext cx="271577" cy="365760"/>
          </a:xfrm>
          <a:prstGeom prst="rect">
            <a:avLst/>
          </a:prstGeom>
          <a:solidFill>
            <a:schemeClr val="accent2"/>
          </a:solidFill>
          <a:ln/>
        </p:spPr>
      </p:sp>
      <p:sp>
        <p:nvSpPr>
          <p:cNvPr id="14" name="balance lbl 1"/>
          <p:cNvSpPr txBox="1"/>
          <p:nvPr/>
        </p:nvSpPr>
        <p:spPr>
          <a:xfrm>
            <a:off x="6240780" y="2697480"/>
            <a:ext cx="271577" cy="365760"/>
          </a:xfrm>
          <a:prstGeom prst="rect">
            <a:avLst/>
          </a:prstGeom>
          <a:noFill/>
          <a:ln/>
        </p:spPr>
        <p:txBody>
          <a:bodyPr wrap="square" lIns="0" tIns="0" rIns="0" bIns="0" rtlCol="0" anchor="ctr"/>
          <a:lstStyle/>
          <a:p>
            <a:pPr marL="0" indent="0" algn="ctr">
              <a:buNone/>
            </a:pPr>
            <a:r>
              <a:rPr lang="en-US" sz="1100" b="1" dirty="0">
                <a:solidFill>
                  <a:schemeClr val="bg1"/>
                </a:solidFill>
              </a:rPr>
              <a:t>9%</a:t>
            </a:r>
            <a:endParaRPr lang="en-US" sz="1100" dirty="0"/>
          </a:p>
        </p:txBody>
      </p:sp>
      <p:sp>
        <p:nvSpPr>
          <p:cNvPr id="15" name="balance seg 2"/>
          <p:cNvSpPr/>
          <p:nvPr/>
        </p:nvSpPr>
        <p:spPr>
          <a:xfrm>
            <a:off x="6512357" y="2697480"/>
            <a:ext cx="1991563" cy="365760"/>
          </a:xfrm>
          <a:prstGeom prst="rect">
            <a:avLst/>
          </a:prstGeom>
          <a:solidFill>
            <a:schemeClr val="accent1"/>
          </a:solidFill>
          <a:ln/>
        </p:spPr>
      </p:sp>
      <p:sp>
        <p:nvSpPr>
          <p:cNvPr id="16" name="balance lbl 2"/>
          <p:cNvSpPr txBox="1"/>
          <p:nvPr/>
        </p:nvSpPr>
        <p:spPr>
          <a:xfrm>
            <a:off x="6512357" y="2697480"/>
            <a:ext cx="1991563" cy="365760"/>
          </a:xfrm>
          <a:prstGeom prst="rect">
            <a:avLst/>
          </a:prstGeom>
          <a:noFill/>
          <a:ln/>
        </p:spPr>
        <p:txBody>
          <a:bodyPr wrap="square" lIns="0" tIns="0" rIns="0" bIns="0" rtlCol="0" anchor="ctr"/>
          <a:lstStyle/>
          <a:p>
            <a:pPr marL="0" indent="0" algn="ctr">
              <a:buNone/>
            </a:pPr>
            <a:r>
              <a:rPr lang="en-US" sz="1100" b="1" dirty="0">
                <a:solidFill>
                  <a:schemeClr val="bg1"/>
                </a:solidFill>
              </a:rPr>
              <a:t>66%</a:t>
            </a:r>
            <a:endParaRPr lang="en-US" sz="1100" dirty="0"/>
          </a:p>
        </p:txBody>
      </p:sp>
      <p:sp>
        <p:nvSpPr>
          <p:cNvPr id="17" name="balance caption"/>
          <p:cNvSpPr txBox="1"/>
          <p:nvPr/>
        </p:nvSpPr>
        <p:spPr>
          <a:xfrm>
            <a:off x="5486400" y="3127248"/>
            <a:ext cx="3017520" cy="274320"/>
          </a:xfrm>
          <a:prstGeom prst="rect">
            <a:avLst/>
          </a:prstGeom>
          <a:noFill/>
          <a:ln/>
        </p:spPr>
        <p:txBody>
          <a:bodyPr wrap="square" lIns="0" tIns="0" rIns="0" bIns="0" rtlCol="0" anchor="ctr"/>
          <a:lstStyle/>
          <a:p>
            <a:pPr marL="0" indent="0">
              <a:buNone/>
            </a:pPr>
            <a:r>
              <a:rPr lang="en-US" sz="1100" dirty="0">
                <a:solidFill>
                  <a:schemeClr val="accent5"/>
                </a:solidFill>
              </a:rPr>
              <a:t>Positive 66%  ·  Neutral 9%</a:t>
            </a:r>
            <a:endParaRPr lang="en-US" sz="1100" dirty="0"/>
          </a:p>
        </p:txBody>
      </p:sp>
      <p:sp>
        <p:nvSpPr>
          <p:cNvPr id="18" name="stat tokens"/>
          <p:cNvSpPr/>
          <p:nvPr/>
        </p:nvSpPr>
        <p:spPr>
          <a:xfrm>
            <a:off x="5303520" y="3657600"/>
            <a:ext cx="1600200" cy="868680"/>
          </a:xfrm>
          <a:prstGeom prst="roundRect">
            <a:avLst>
              <a:gd name="adj" fmla="val 12632"/>
            </a:avLst>
          </a:prstGeom>
          <a:solidFill>
            <a:schemeClr val="bg2"/>
          </a:solidFill>
          <a:ln/>
        </p:spPr>
      </p:sp>
      <p:sp>
        <p:nvSpPr>
          <p:cNvPr id="19" name="stat tokens text"/>
          <p:cNvSpPr txBox="1"/>
          <p:nvPr/>
        </p:nvSpPr>
        <p:spPr>
          <a:xfrm>
            <a:off x="5440680" y="3730752"/>
            <a:ext cx="1325880" cy="731520"/>
          </a:xfrm>
          <a:prstGeom prst="rect">
            <a:avLst/>
          </a:prstGeom>
          <a:noFill/>
          <a:ln/>
        </p:spPr>
        <p:txBody>
          <a:bodyPr wrap="square" lIns="0" tIns="0" rIns="0" bIns="0" rtlCol="0" anchor="ctr"/>
          <a:lstStyle/>
          <a:p>
            <a:pPr marL="0" indent="0">
              <a:buNone/>
            </a:pPr>
            <a:r>
              <a:rPr lang="en-US" sz="2400" b="1" dirty="0">
                <a:solidFill>
                  <a:schemeClr val="accent1"/>
                </a:solidFill>
                <a:latin typeface="Calibri" pitchFamily="34" charset="0"/>
                <a:ea typeface="Calibri" pitchFamily="34" charset="-122"/>
                <a:cs typeface="Calibri" pitchFamily="34" charset="-120"/>
              </a:rPr>
              <a:t>85 → 150</a:t>
            </a:r>
            <a:endParaRPr lang="en-US" sz="2400" dirty="0"/>
          </a:p>
          <a:p>
            <a:pPr marL="0" indent="0">
              <a:buNone/>
            </a:pPr>
            <a:r>
              <a:rPr lang="en-US" sz="1100" dirty="0">
                <a:solidFill>
                  <a:schemeClr val="accent5"/>
                </a:solidFill>
              </a:rPr>
              <a:t>avg tokens → max length</a:t>
            </a:r>
            <a:endParaRPr lang="en-US" sz="2400" dirty="0"/>
          </a:p>
        </p:txBody>
      </p:sp>
      <p:sp>
        <p:nvSpPr>
          <p:cNvPr id="20" name="stat kept"/>
          <p:cNvSpPr/>
          <p:nvPr/>
        </p:nvSpPr>
        <p:spPr>
          <a:xfrm>
            <a:off x="7086600" y="3657600"/>
            <a:ext cx="1600200" cy="868680"/>
          </a:xfrm>
          <a:prstGeom prst="roundRect">
            <a:avLst>
              <a:gd name="adj" fmla="val 12632"/>
            </a:avLst>
          </a:prstGeom>
          <a:solidFill>
            <a:schemeClr val="bg2"/>
          </a:solidFill>
          <a:ln/>
        </p:spPr>
      </p:sp>
      <p:sp>
        <p:nvSpPr>
          <p:cNvPr id="21" name="stat kept text"/>
          <p:cNvSpPr txBox="1"/>
          <p:nvPr/>
        </p:nvSpPr>
        <p:spPr>
          <a:xfrm>
            <a:off x="7223760" y="3730752"/>
            <a:ext cx="1325880" cy="731520"/>
          </a:xfrm>
          <a:prstGeom prst="rect">
            <a:avLst/>
          </a:prstGeom>
          <a:noFill/>
          <a:ln/>
        </p:spPr>
        <p:txBody>
          <a:bodyPr wrap="square" lIns="0" tIns="0" rIns="0" bIns="0" rtlCol="0" anchor="ctr"/>
          <a:lstStyle/>
          <a:p>
            <a:pPr marL="0" indent="0">
              <a:buNone/>
            </a:pPr>
            <a:r>
              <a:rPr lang="en-US" sz="2400" b="1" dirty="0">
                <a:solidFill>
                  <a:schemeClr val="accent1"/>
                </a:solidFill>
                <a:latin typeface="Calibri" pitchFamily="34" charset="0"/>
                <a:ea typeface="Calibri" pitchFamily="34" charset="-122"/>
                <a:cs typeface="Calibri" pitchFamily="34" charset="-120"/>
              </a:rPr>
              <a:t>98%</a:t>
            </a:r>
            <a:endParaRPr lang="en-US" sz="2400" dirty="0"/>
          </a:p>
          <a:p>
            <a:pPr marL="0" indent="0">
              <a:buNone/>
            </a:pPr>
            <a:r>
              <a:rPr lang="en-US" sz="1100" dirty="0">
                <a:solidFill>
                  <a:schemeClr val="accent5"/>
                </a:solidFill>
              </a:rPr>
              <a:t>reviews kept whole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Modeling approach</a:t>
            </a:r>
            <a:endParaRPr lang="en-US" sz="3000" dirty="0"/>
          </a:p>
        </p:txBody>
      </p:sp>
      <p:sp>
        <p:nvSpPr>
          <p:cNvPr id="3" name="pipe Embedding"/>
          <p:cNvSpPr/>
          <p:nvPr/>
        </p:nvSpPr>
        <p:spPr>
          <a:xfrm>
            <a:off x="457200" y="1188720"/>
            <a:ext cx="1417320" cy="640080"/>
          </a:xfrm>
          <a:prstGeom prst="roundRect">
            <a:avLst>
              <a:gd name="adj" fmla="val 14286"/>
            </a:avLst>
          </a:prstGeom>
          <a:solidFill>
            <a:schemeClr val="tx2"/>
          </a:solidFill>
          <a:ln/>
        </p:spPr>
      </p:sp>
      <p:sp>
        <p:nvSpPr>
          <p:cNvPr id="4" name="pipe text Embedding"/>
          <p:cNvSpPr txBox="1"/>
          <p:nvPr/>
        </p:nvSpPr>
        <p:spPr>
          <a:xfrm>
            <a:off x="457200" y="1188720"/>
            <a:ext cx="1417320" cy="640080"/>
          </a:xfrm>
          <a:prstGeom prst="rect">
            <a:avLst/>
          </a:prstGeom>
          <a:noFill/>
          <a:ln/>
        </p:spPr>
        <p:txBody>
          <a:bodyPr wrap="square" lIns="0" tIns="0" rIns="0" bIns="0" rtlCol="0" anchor="ctr"/>
          <a:lstStyle/>
          <a:p>
            <a:pPr marL="0" indent="0" algn="ctr">
              <a:buNone/>
            </a:pPr>
            <a:r>
              <a:rPr lang="en-US" sz="1300" b="1" dirty="0">
                <a:solidFill>
                  <a:schemeClr val="bg1"/>
                </a:solidFill>
              </a:rPr>
              <a:t>Embedding</a:t>
            </a:r>
            <a:endParaRPr lang="en-US" sz="1300" dirty="0"/>
          </a:p>
        </p:txBody>
      </p:sp>
      <p:sp>
        <p:nvSpPr>
          <p:cNvPr id="5" name="arrow 0"/>
          <p:cNvSpPr/>
          <p:nvPr/>
        </p:nvSpPr>
        <p:spPr>
          <a:xfrm>
            <a:off x="1920240" y="1399032"/>
            <a:ext cx="201168" cy="219456"/>
          </a:xfrm>
          <a:prstGeom prst="rightArrow">
            <a:avLst/>
          </a:prstGeom>
          <a:solidFill>
            <a:schemeClr val="accent4"/>
          </a:solidFill>
          <a:ln/>
        </p:spPr>
      </p:sp>
      <p:sp>
        <p:nvSpPr>
          <p:cNvPr id="6" name="pipe Recurrent cell"/>
          <p:cNvSpPr/>
          <p:nvPr/>
        </p:nvSpPr>
        <p:spPr>
          <a:xfrm>
            <a:off x="2157984" y="1188720"/>
            <a:ext cx="1417320" cy="640080"/>
          </a:xfrm>
          <a:prstGeom prst="roundRect">
            <a:avLst>
              <a:gd name="adj" fmla="val 14286"/>
            </a:avLst>
          </a:prstGeom>
          <a:solidFill>
            <a:schemeClr val="accent2"/>
          </a:solidFill>
          <a:ln/>
        </p:spPr>
      </p:sp>
      <p:sp>
        <p:nvSpPr>
          <p:cNvPr id="7" name="pipe text Recurrent cell"/>
          <p:cNvSpPr txBox="1"/>
          <p:nvPr/>
        </p:nvSpPr>
        <p:spPr>
          <a:xfrm>
            <a:off x="2157984" y="1188720"/>
            <a:ext cx="1417320" cy="640080"/>
          </a:xfrm>
          <a:prstGeom prst="rect">
            <a:avLst/>
          </a:prstGeom>
          <a:noFill/>
          <a:ln/>
        </p:spPr>
        <p:txBody>
          <a:bodyPr wrap="square" lIns="0" tIns="0" rIns="0" bIns="0" rtlCol="0" anchor="ctr"/>
          <a:lstStyle/>
          <a:p>
            <a:pPr marL="0" indent="0" algn="ctr">
              <a:buNone/>
            </a:pPr>
            <a:r>
              <a:rPr lang="en-US" sz="1300" b="1" dirty="0">
                <a:solidFill>
                  <a:schemeClr val="bg1"/>
                </a:solidFill>
              </a:rPr>
              <a:t>Recurrent cell</a:t>
            </a:r>
            <a:endParaRPr lang="en-US" sz="1300" dirty="0"/>
          </a:p>
        </p:txBody>
      </p:sp>
      <p:sp>
        <p:nvSpPr>
          <p:cNvPr id="8" name="arrow 1"/>
          <p:cNvSpPr/>
          <p:nvPr/>
        </p:nvSpPr>
        <p:spPr>
          <a:xfrm>
            <a:off x="3621024" y="1399032"/>
            <a:ext cx="201168" cy="219456"/>
          </a:xfrm>
          <a:prstGeom prst="rightArrow">
            <a:avLst/>
          </a:prstGeom>
          <a:solidFill>
            <a:schemeClr val="accent4"/>
          </a:solidFill>
          <a:ln/>
        </p:spPr>
      </p:sp>
      <p:sp>
        <p:nvSpPr>
          <p:cNvPr id="9" name="pipe Last real word"/>
          <p:cNvSpPr/>
          <p:nvPr/>
        </p:nvSpPr>
        <p:spPr>
          <a:xfrm>
            <a:off x="3858768" y="1188720"/>
            <a:ext cx="1417320" cy="640080"/>
          </a:xfrm>
          <a:prstGeom prst="roundRect">
            <a:avLst>
              <a:gd name="adj" fmla="val 14286"/>
            </a:avLst>
          </a:prstGeom>
          <a:solidFill>
            <a:schemeClr val="tx2"/>
          </a:solidFill>
          <a:ln/>
        </p:spPr>
      </p:sp>
      <p:sp>
        <p:nvSpPr>
          <p:cNvPr id="10" name="pipe text Last real word"/>
          <p:cNvSpPr txBox="1"/>
          <p:nvPr/>
        </p:nvSpPr>
        <p:spPr>
          <a:xfrm>
            <a:off x="3858768" y="1188720"/>
            <a:ext cx="1417320" cy="640080"/>
          </a:xfrm>
          <a:prstGeom prst="rect">
            <a:avLst/>
          </a:prstGeom>
          <a:noFill/>
          <a:ln/>
        </p:spPr>
        <p:txBody>
          <a:bodyPr wrap="square" lIns="0" tIns="0" rIns="0" bIns="0" rtlCol="0" anchor="ctr"/>
          <a:lstStyle/>
          <a:p>
            <a:pPr marL="0" indent="0" algn="ctr">
              <a:buNone/>
            </a:pPr>
            <a:r>
              <a:rPr lang="en-US" sz="1300" b="1" dirty="0">
                <a:solidFill>
                  <a:schemeClr val="bg1"/>
                </a:solidFill>
              </a:rPr>
              <a:t>Last real word</a:t>
            </a:r>
            <a:endParaRPr lang="en-US" sz="1300" dirty="0"/>
          </a:p>
        </p:txBody>
      </p:sp>
      <p:sp>
        <p:nvSpPr>
          <p:cNvPr id="11" name="arrow 2"/>
          <p:cNvSpPr/>
          <p:nvPr/>
        </p:nvSpPr>
        <p:spPr>
          <a:xfrm>
            <a:off x="5321808" y="1399032"/>
            <a:ext cx="201168" cy="219456"/>
          </a:xfrm>
          <a:prstGeom prst="rightArrow">
            <a:avLst/>
          </a:prstGeom>
          <a:solidFill>
            <a:schemeClr val="accent4"/>
          </a:solidFill>
          <a:ln/>
        </p:spPr>
      </p:sp>
      <p:sp>
        <p:nvSpPr>
          <p:cNvPr id="12" name="pipe Dropout"/>
          <p:cNvSpPr/>
          <p:nvPr/>
        </p:nvSpPr>
        <p:spPr>
          <a:xfrm>
            <a:off x="5559552" y="1188720"/>
            <a:ext cx="1417320" cy="640080"/>
          </a:xfrm>
          <a:prstGeom prst="roundRect">
            <a:avLst>
              <a:gd name="adj" fmla="val 14286"/>
            </a:avLst>
          </a:prstGeom>
          <a:solidFill>
            <a:schemeClr val="tx2"/>
          </a:solidFill>
          <a:ln/>
        </p:spPr>
      </p:sp>
      <p:sp>
        <p:nvSpPr>
          <p:cNvPr id="13" name="pipe text Dropout"/>
          <p:cNvSpPr txBox="1"/>
          <p:nvPr/>
        </p:nvSpPr>
        <p:spPr>
          <a:xfrm>
            <a:off x="5559552" y="1188720"/>
            <a:ext cx="1417320" cy="640080"/>
          </a:xfrm>
          <a:prstGeom prst="rect">
            <a:avLst/>
          </a:prstGeom>
          <a:noFill/>
          <a:ln/>
        </p:spPr>
        <p:txBody>
          <a:bodyPr wrap="square" lIns="0" tIns="0" rIns="0" bIns="0" rtlCol="0" anchor="ctr"/>
          <a:lstStyle/>
          <a:p>
            <a:pPr marL="0" indent="0" algn="ctr">
              <a:buNone/>
            </a:pPr>
            <a:r>
              <a:rPr lang="en-US" sz="1300" b="1" dirty="0">
                <a:solidFill>
                  <a:schemeClr val="bg1"/>
                </a:solidFill>
              </a:rPr>
              <a:t>Dropout</a:t>
            </a:r>
            <a:endParaRPr lang="en-US" sz="1300" dirty="0"/>
          </a:p>
        </p:txBody>
      </p:sp>
      <p:sp>
        <p:nvSpPr>
          <p:cNvPr id="14" name="arrow 3"/>
          <p:cNvSpPr/>
          <p:nvPr/>
        </p:nvSpPr>
        <p:spPr>
          <a:xfrm>
            <a:off x="7022592" y="1399032"/>
            <a:ext cx="201168" cy="219456"/>
          </a:xfrm>
          <a:prstGeom prst="rightArrow">
            <a:avLst/>
          </a:prstGeom>
          <a:solidFill>
            <a:schemeClr val="accent4"/>
          </a:solidFill>
          <a:ln/>
        </p:spPr>
      </p:sp>
      <p:sp>
        <p:nvSpPr>
          <p:cNvPr id="15" name="pipe Linear → 3"/>
          <p:cNvSpPr/>
          <p:nvPr/>
        </p:nvSpPr>
        <p:spPr>
          <a:xfrm>
            <a:off x="7260336" y="1188720"/>
            <a:ext cx="1417320" cy="640080"/>
          </a:xfrm>
          <a:prstGeom prst="roundRect">
            <a:avLst>
              <a:gd name="adj" fmla="val 14286"/>
            </a:avLst>
          </a:prstGeom>
          <a:solidFill>
            <a:schemeClr val="tx2"/>
          </a:solidFill>
          <a:ln/>
        </p:spPr>
      </p:sp>
      <p:sp>
        <p:nvSpPr>
          <p:cNvPr id="16" name="pipe text Linear → 3"/>
          <p:cNvSpPr txBox="1"/>
          <p:nvPr/>
        </p:nvSpPr>
        <p:spPr>
          <a:xfrm>
            <a:off x="7260336" y="1188720"/>
            <a:ext cx="1417320" cy="640080"/>
          </a:xfrm>
          <a:prstGeom prst="rect">
            <a:avLst/>
          </a:prstGeom>
          <a:noFill/>
          <a:ln/>
        </p:spPr>
        <p:txBody>
          <a:bodyPr wrap="square" lIns="0" tIns="0" rIns="0" bIns="0" rtlCol="0" anchor="ctr"/>
          <a:lstStyle/>
          <a:p>
            <a:pPr marL="0" indent="0" algn="ctr">
              <a:buNone/>
            </a:pPr>
            <a:r>
              <a:rPr lang="en-US" sz="1300" b="1" dirty="0">
                <a:solidFill>
                  <a:schemeClr val="bg1"/>
                </a:solidFill>
              </a:rPr>
              <a:t>Linear → 3</a:t>
            </a:r>
            <a:endParaRPr lang="en-US" sz="1300" dirty="0"/>
          </a:p>
        </p:txBody>
      </p:sp>
      <p:sp>
        <p:nvSpPr>
          <p:cNvPr id="17" name="model text"/>
          <p:cNvSpPr txBox="1"/>
          <p:nvPr/>
        </p:nvSpPr>
        <p:spPr>
          <a:xfrm>
            <a:off x="457200" y="2148840"/>
            <a:ext cx="4846320" cy="2651760"/>
          </a:xfrm>
          <a:prstGeom prst="rect">
            <a:avLst/>
          </a:prstGeom>
          <a:noFill/>
          <a:ln/>
        </p:spPr>
        <p:txBody>
          <a:bodyPr wrap="square" lIns="0" tIns="0" rIns="0" bIns="0" rtlCol="0" anchor="t"/>
          <a:lstStyle/>
          <a:p>
            <a:pPr marL="0" indent="0" algn="just">
              <a:lnSpc>
                <a:spcPct val="150000"/>
              </a:lnSpc>
              <a:spcAft>
                <a:spcPts val="600"/>
              </a:spcAft>
              <a:buNone/>
            </a:pPr>
            <a:r>
              <a:rPr lang="en-US" sz="1500" dirty="0">
                <a:solidFill>
                  <a:schemeClr val="tx1"/>
                </a:solidFill>
              </a:rPr>
              <a:t>All models share the same pipeline. Each review goes through an embedding layer, then a recurrent cell, and we take the hidden state of the last real word, apply dropout, and use a linear layer with three outputs. Only the cell changes. CIFG removes the input gate and replaces it with one minus the forget gate, which gives 25 percent fewer cell parameters. LSTMP projects the hidden state from 128 to 64 dimensions.</a:t>
            </a:r>
            <a:endParaRPr lang="en-US">
              <a:ea typeface="Calibri"/>
              <a:cs typeface="Calibri"/>
            </a:endParaRPr>
          </a:p>
        </p:txBody>
      </p:sp>
      <p:sp>
        <p:nvSpPr>
          <p:cNvPr id="18" name="cell card Vanilla"/>
          <p:cNvSpPr/>
          <p:nvPr/>
        </p:nvSpPr>
        <p:spPr>
          <a:xfrm>
            <a:off x="5669280" y="2148840"/>
            <a:ext cx="3017520" cy="731520"/>
          </a:xfrm>
          <a:prstGeom prst="roundRect">
            <a:avLst>
              <a:gd name="adj" fmla="val 15000"/>
            </a:avLst>
          </a:prstGeom>
          <a:solidFill>
            <a:schemeClr val="bg2"/>
          </a:solidFill>
          <a:ln/>
        </p:spPr>
      </p:sp>
      <p:sp>
        <p:nvSpPr>
          <p:cNvPr id="19" name="cell text Vanilla"/>
          <p:cNvSpPr txBox="1"/>
          <p:nvPr/>
        </p:nvSpPr>
        <p:spPr>
          <a:xfrm>
            <a:off x="5852160" y="2194560"/>
            <a:ext cx="2743200" cy="640080"/>
          </a:xfrm>
          <a:prstGeom prst="rect">
            <a:avLst/>
          </a:prstGeom>
          <a:noFill/>
          <a:ln/>
        </p:spPr>
        <p:txBody>
          <a:bodyPr wrap="square" lIns="0" tIns="0" rIns="0" bIns="0" rtlCol="0" anchor="ctr"/>
          <a:lstStyle/>
          <a:p>
            <a:pPr marL="0" indent="0">
              <a:buNone/>
            </a:pPr>
            <a:r>
              <a:rPr lang="en-US" sz="1500" b="1" dirty="0">
                <a:solidFill>
                  <a:schemeClr val="tx2"/>
                </a:solidFill>
              </a:rPr>
              <a:t>Vanilla</a:t>
            </a:r>
            <a:endParaRPr lang="en-US" sz="1500" dirty="0"/>
          </a:p>
          <a:p>
            <a:pPr marL="0" indent="0">
              <a:buNone/>
            </a:pPr>
            <a:r>
              <a:rPr lang="en-US" sz="1200" dirty="0">
                <a:solidFill>
                  <a:schemeClr val="accent5"/>
                </a:solidFill>
              </a:rPr>
              <a:t>4 gates · hidden 128</a:t>
            </a:r>
            <a:endParaRPr lang="en-US" sz="1500" dirty="0"/>
          </a:p>
        </p:txBody>
      </p:sp>
      <p:sp>
        <p:nvSpPr>
          <p:cNvPr id="20" name="cell card CIFG"/>
          <p:cNvSpPr/>
          <p:nvPr/>
        </p:nvSpPr>
        <p:spPr>
          <a:xfrm>
            <a:off x="5669280" y="3017520"/>
            <a:ext cx="3017520" cy="731520"/>
          </a:xfrm>
          <a:prstGeom prst="roundRect">
            <a:avLst>
              <a:gd name="adj" fmla="val 15000"/>
            </a:avLst>
          </a:prstGeom>
          <a:solidFill>
            <a:schemeClr val="bg2"/>
          </a:solidFill>
          <a:ln/>
        </p:spPr>
      </p:sp>
      <p:sp>
        <p:nvSpPr>
          <p:cNvPr id="21" name="cell text CIFG"/>
          <p:cNvSpPr txBox="1"/>
          <p:nvPr/>
        </p:nvSpPr>
        <p:spPr>
          <a:xfrm>
            <a:off x="5852160" y="3063240"/>
            <a:ext cx="2743200" cy="640080"/>
          </a:xfrm>
          <a:prstGeom prst="rect">
            <a:avLst/>
          </a:prstGeom>
          <a:noFill/>
          <a:ln/>
        </p:spPr>
        <p:txBody>
          <a:bodyPr wrap="square" lIns="0" tIns="0" rIns="0" bIns="0" rtlCol="0" anchor="ctr"/>
          <a:lstStyle/>
          <a:p>
            <a:pPr marL="0" indent="0">
              <a:buNone/>
            </a:pPr>
            <a:r>
              <a:rPr lang="en-US" sz="1500" b="1" dirty="0">
                <a:solidFill>
                  <a:schemeClr val="tx2"/>
                </a:solidFill>
              </a:rPr>
              <a:t>CIFG</a:t>
            </a:r>
            <a:endParaRPr lang="en-US" sz="1500" dirty="0"/>
          </a:p>
          <a:p>
            <a:pPr marL="0" indent="0">
              <a:buNone/>
            </a:pPr>
            <a:r>
              <a:rPr lang="en-US" sz="1200" dirty="0">
                <a:solidFill>
                  <a:schemeClr val="accent5"/>
                </a:solidFill>
              </a:rPr>
              <a:t>i = 1 − f</a:t>
            </a:r>
            <a:endParaRPr lang="en-US" sz="1500" dirty="0"/>
          </a:p>
        </p:txBody>
      </p:sp>
      <p:sp>
        <p:nvSpPr>
          <p:cNvPr id="22" name="cell card LSTMP"/>
          <p:cNvSpPr/>
          <p:nvPr/>
        </p:nvSpPr>
        <p:spPr>
          <a:xfrm>
            <a:off x="5669280" y="3886200"/>
            <a:ext cx="3017520" cy="731520"/>
          </a:xfrm>
          <a:prstGeom prst="roundRect">
            <a:avLst>
              <a:gd name="adj" fmla="val 15000"/>
            </a:avLst>
          </a:prstGeom>
          <a:solidFill>
            <a:schemeClr val="bg2"/>
          </a:solidFill>
          <a:ln/>
        </p:spPr>
      </p:sp>
      <p:sp>
        <p:nvSpPr>
          <p:cNvPr id="23" name="cell text LSTMP"/>
          <p:cNvSpPr txBox="1"/>
          <p:nvPr/>
        </p:nvSpPr>
        <p:spPr>
          <a:xfrm>
            <a:off x="5852160" y="3931920"/>
            <a:ext cx="2743200" cy="640080"/>
          </a:xfrm>
          <a:prstGeom prst="rect">
            <a:avLst/>
          </a:prstGeom>
          <a:noFill/>
          <a:ln/>
        </p:spPr>
        <p:txBody>
          <a:bodyPr wrap="square" lIns="0" tIns="0" rIns="0" bIns="0" rtlCol="0" anchor="ctr"/>
          <a:lstStyle/>
          <a:p>
            <a:pPr marL="0" indent="0">
              <a:buNone/>
            </a:pPr>
            <a:r>
              <a:rPr lang="en-US" sz="1500" b="1" dirty="0">
                <a:solidFill>
                  <a:schemeClr val="tx2"/>
                </a:solidFill>
              </a:rPr>
              <a:t>LSTMP</a:t>
            </a:r>
            <a:endParaRPr lang="en-US" sz="1500" dirty="0"/>
          </a:p>
          <a:p>
            <a:pPr marL="0" indent="0">
              <a:buNone/>
            </a:pPr>
            <a:r>
              <a:rPr lang="en-US" sz="1200" dirty="0">
                <a:solidFill>
                  <a:schemeClr val="accent5"/>
                </a:solidFill>
              </a:rPr>
              <a:t>128 → 64 projection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Training and hyperparameters</a:t>
            </a:r>
            <a:endParaRPr lang="en-US" sz="3000" dirty="0"/>
          </a:p>
        </p:txBody>
      </p:sp>
      <p:sp>
        <p:nvSpPr>
          <p:cNvPr id="3" name="training text"/>
          <p:cNvSpPr txBox="1"/>
          <p:nvPr/>
        </p:nvSpPr>
        <p:spPr>
          <a:xfrm>
            <a:off x="457200" y="1188720"/>
            <a:ext cx="4206240" cy="3566160"/>
          </a:xfrm>
          <a:prstGeom prst="rect">
            <a:avLst/>
          </a:prstGeom>
          <a:noFill/>
          <a:ln/>
        </p:spPr>
        <p:txBody>
          <a:bodyPr wrap="square" lIns="0" tIns="0" rIns="0" bIns="0" rtlCol="0" anchor="t"/>
          <a:lstStyle/>
          <a:p>
            <a:pPr marL="0" indent="0" algn="just">
              <a:lnSpc>
                <a:spcPct val="150000"/>
              </a:lnSpc>
              <a:spcAft>
                <a:spcPts val="600"/>
              </a:spcAft>
              <a:buNone/>
            </a:pPr>
            <a:r>
              <a:rPr lang="en-US" sz="1500" dirty="0"/>
              <a:t>All models use the same test set and evaluation. We train for 8 epochs and keep the epoch with the best validation macro-F1. Then we changed one hyperparameter at a time on the vanilla LSTM. A learning rate of 10⁻² made training unstable. RMSprop and Xavier initialization changed almost nothing. Batch size 128 was lower, probably because it makes half as many updates in 8 epochs. </a:t>
            </a:r>
            <a:r>
              <a:rPr lang="en-US" sz="1500" dirty="0" err="1"/>
              <a:t>So</a:t>
            </a:r>
            <a:r>
              <a:rPr lang="en-US" sz="1500" dirty="0"/>
              <a:t> the learning rate matters most.</a:t>
            </a:r>
            <a:endParaRPr lang="en-US">
              <a:ea typeface="Calibri"/>
              <a:cs typeface="Calibri"/>
            </a:endParaRPr>
          </a:p>
        </p:txBody>
      </p:sp>
      <p:sp>
        <p:nvSpPr>
          <p:cNvPr id="4" name="hp chart card"/>
          <p:cNvSpPr/>
          <p:nvPr/>
        </p:nvSpPr>
        <p:spPr>
          <a:xfrm>
            <a:off x="4937760" y="1188720"/>
            <a:ext cx="3749040" cy="3566160"/>
          </a:xfrm>
          <a:prstGeom prst="roundRect">
            <a:avLst>
              <a:gd name="adj" fmla="val 3077"/>
            </a:avLst>
          </a:prstGeom>
          <a:solidFill>
            <a:schemeClr val="bg2"/>
          </a:solidFill>
          <a:ln/>
        </p:spPr>
      </p:sp>
      <p:graphicFrame>
        <p:nvGraphicFramePr>
          <p:cNvPr id="5" name="hp chart"/>
          <p:cNvGraphicFramePr/>
          <p:nvPr/>
        </p:nvGraphicFramePr>
        <p:xfrm>
          <a:off x="5029200" y="1280160"/>
          <a:ext cx="35661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Results: comparing the cells</a:t>
            </a:r>
            <a:endParaRPr lang="en-US" sz="3000" dirty="0"/>
          </a:p>
        </p:txBody>
      </p:sp>
      <p:graphicFrame>
        <p:nvGraphicFramePr>
          <p:cNvPr id="7" name="results table"/>
          <p:cNvGraphicFramePr>
            <a:graphicFrameLocks noGrp="1"/>
          </p:cNvGraphicFramePr>
          <p:nvPr>
            <p:extLst>
              <p:ext uri="{D42A27DB-BD31-4B8C-83A1-F6EECF244321}">
                <p14:modId xmlns:p14="http://schemas.microsoft.com/office/powerpoint/2010/main" val="1579011935"/>
              </p:ext>
            </p:extLst>
          </p:nvPr>
        </p:nvGraphicFramePr>
        <p:xfrm>
          <a:off x="457200" y="1188720"/>
          <a:ext cx="4572000" cy="1536192"/>
        </p:xfrm>
        <a:graphic>
          <a:graphicData uri="http://schemas.openxmlformats.org/drawingml/2006/table">
            <a:tbl>
              <a:tblPr/>
              <a:tblGrid>
                <a:gridCol w="11430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Cell params</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Test acc</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Vanilla</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131,584</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0.846</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0.756</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rgbClr val="1B2A33"/>
                          </a:solidFill>
                          <a:latin typeface="Calibri" pitchFamily="34" charset="0"/>
                          <a:ea typeface="Calibri" pitchFamily="34" charset="-122"/>
                          <a:cs typeface="Calibri" pitchFamily="34" charset="-120"/>
                        </a:rPr>
                        <a:t>CIFG</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9A8"/>
                    </a:solidFill>
                  </a:tcPr>
                </a:tc>
                <a:tc>
                  <a:txBody>
                    <a:bodyPr/>
                    <a:lstStyle/>
                    <a:p>
                      <a:pPr marL="0" indent="0">
                        <a:buNone/>
                      </a:pPr>
                      <a:r>
                        <a:rPr lang="en-US" sz="1400" b="1" dirty="0">
                          <a:solidFill>
                            <a:srgbClr val="1B2A33"/>
                          </a:solidFill>
                          <a:latin typeface="Calibri" pitchFamily="34" charset="0"/>
                          <a:ea typeface="Calibri" pitchFamily="34" charset="-122"/>
                          <a:cs typeface="Calibri" pitchFamily="34" charset="-120"/>
                        </a:rPr>
                        <a:t>98,688</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9A8"/>
                    </a:solidFill>
                  </a:tcPr>
                </a:tc>
                <a:tc>
                  <a:txBody>
                    <a:bodyPr/>
                    <a:lstStyle/>
                    <a:p>
                      <a:pPr marL="0" indent="0">
                        <a:buNone/>
                      </a:pPr>
                      <a:r>
                        <a:rPr lang="en-US" sz="1400" b="1" dirty="0">
                          <a:solidFill>
                            <a:srgbClr val="1B2A33"/>
                          </a:solidFill>
                          <a:latin typeface="Calibri" pitchFamily="34" charset="0"/>
                          <a:ea typeface="Calibri" pitchFamily="34" charset="-122"/>
                          <a:cs typeface="Calibri" pitchFamily="34" charset="-120"/>
                        </a:rPr>
                        <a:t>0.849</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9A8"/>
                    </a:solidFill>
                  </a:tcPr>
                </a:tc>
                <a:tc>
                  <a:txBody>
                    <a:bodyPr/>
                    <a:lstStyle/>
                    <a:p>
                      <a:pPr marL="0" indent="0">
                        <a:buNone/>
                      </a:pPr>
                      <a:r>
                        <a:rPr lang="en-US" sz="1400" b="1" dirty="0">
                          <a:solidFill>
                            <a:srgbClr val="1B2A33"/>
                          </a:solidFill>
                          <a:latin typeface="Calibri" pitchFamily="34" charset="0"/>
                          <a:ea typeface="Calibri" pitchFamily="34" charset="-122"/>
                          <a:cs typeface="Calibri" pitchFamily="34" charset="-120"/>
                        </a:rPr>
                        <a:t>0.761</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9A8"/>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LSTMP</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107,072</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0.842</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tc>
                  <a:txBody>
                    <a:bodyPr/>
                    <a:lstStyle/>
                    <a:p>
                      <a:pPr marL="0" indent="0">
                        <a:buNone/>
                      </a:pPr>
                      <a:r>
                        <a:rPr lang="en-US" sz="1400" dirty="0">
                          <a:solidFill>
                            <a:srgbClr val="1B2A33"/>
                          </a:solidFill>
                          <a:latin typeface="Calibri" pitchFamily="34" charset="0"/>
                          <a:ea typeface="Calibri" pitchFamily="34" charset="-122"/>
                          <a:cs typeface="Calibri" pitchFamily="34" charset="-120"/>
                        </a:rPr>
                        <a:t>0.749</a:t>
                      </a:r>
                      <a:endParaRPr lang="en-US" sz="14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4F3"/>
                    </a:solidFill>
                  </a:tcPr>
                </a:tc>
                <a:extLst>
                  <a:ext uri="{0D108BD9-81ED-4DB2-BD59-A6C34878D82A}">
                    <a16:rowId xmlns:a16="http://schemas.microsoft.com/office/drawing/2014/main" val="10003"/>
                  </a:ext>
                </a:extLst>
              </a:tr>
            </a:tbl>
          </a:graphicData>
        </a:graphic>
      </p:graphicFrame>
      <p:graphicFrame>
        <p:nvGraphicFramePr>
          <p:cNvPr id="4" name="f1 chart"/>
          <p:cNvGraphicFramePr/>
          <p:nvPr/>
        </p:nvGraphicFramePr>
        <p:xfrm>
          <a:off x="5303520" y="1097280"/>
          <a:ext cx="338328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5" name="results text"/>
          <p:cNvSpPr txBox="1"/>
          <p:nvPr/>
        </p:nvSpPr>
        <p:spPr>
          <a:xfrm>
            <a:off x="457200" y="3017520"/>
            <a:ext cx="8229600" cy="1691640"/>
          </a:xfrm>
          <a:prstGeom prst="rect">
            <a:avLst/>
          </a:prstGeom>
          <a:noFill/>
          <a:ln/>
        </p:spPr>
        <p:txBody>
          <a:bodyPr wrap="square" lIns="0" tIns="0" rIns="0" bIns="0" rtlCol="0" anchor="t"/>
          <a:lstStyle/>
          <a:p>
            <a:pPr marL="0" indent="0" algn="just">
              <a:lnSpc>
                <a:spcPct val="150000"/>
              </a:lnSpc>
              <a:spcAft>
                <a:spcPts val="600"/>
              </a:spcAft>
              <a:buNone/>
            </a:pPr>
            <a:r>
              <a:rPr lang="en-US" sz="1400" dirty="0">
                <a:solidFill>
                  <a:schemeClr val="tx1"/>
                </a:solidFill>
              </a:rPr>
              <a:t>All three cells reach about 0.75 macro-F1 and 85 percent accuracy. CIFG is slightly ahead with 0.761, using 25 percent fewer cell parameters. The gap is small, about 0.005, and we only have two seeds for vanilla and CIFG, so we read it as “at least as good”, not as a clear win.</a:t>
            </a:r>
            <a:endParaRPr lang="en-US">
              <a:ea typeface="Calibri"/>
              <a:cs typeface="Calibri"/>
            </a:endParaRPr>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tx2"/>
                </a:solidFill>
              </a:rPr>
              <a:t>Error analysis</a:t>
            </a:r>
            <a:endParaRPr lang="en-US" sz="3000" dirty="0"/>
          </a:p>
        </p:txBody>
      </p:sp>
      <p:graphicFrame>
        <p:nvGraphicFramePr>
          <p:cNvPr id="8" name="confusion matrix"/>
          <p:cNvGraphicFramePr>
            <a:graphicFrameLocks noGrp="1"/>
          </p:cNvGraphicFramePr>
          <p:nvPr>
            <p:extLst>
              <p:ext uri="{D42A27DB-BD31-4B8C-83A1-F6EECF244321}">
                <p14:modId xmlns:p14="http://schemas.microsoft.com/office/powerpoint/2010/main" val="1579011935"/>
              </p:ext>
            </p:extLst>
          </p:nvPr>
        </p:nvGraphicFramePr>
        <p:xfrm>
          <a:off x="457200" y="1325880"/>
          <a:ext cx="420624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65760">
                <a:tc>
                  <a:txBody>
                    <a:bodyPr/>
                    <a:lstStyle/>
                    <a:p>
                      <a:pPr marL="0" indent="0" algn="ctr">
                        <a:buNone/>
                      </a:pPr>
                      <a:r>
                        <a:rPr lang="en-US" sz="1000" dirty="0">
                          <a:solidFill>
                            <a:srgbClr val="5B6B73"/>
                          </a:solidFill>
                          <a:latin typeface="Calibri" pitchFamily="34" charset="0"/>
                          <a:ea typeface="Calibri" pitchFamily="34" charset="-122"/>
                          <a:cs typeface="Calibri" pitchFamily="34" charset="-120"/>
                        </a:rPr>
                        <a:t>True ↓ / Pred →</a:t>
                      </a:r>
                      <a:endParaRPr lang="en-US" sz="10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Negative</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Neutral</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Positive</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7240">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Negative</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0.83</a:t>
                      </a:r>
                      <a:endParaRPr lang="en-US" sz="1200" dirty="0">
                        <a:latin typeface="Calibri" charset="0"/>
                        <a:ea typeface="Calibri" charset="0"/>
                        <a:cs typeface="Calibri" charset="0"/>
                      </a:endParaRPr>
                    </a:p>
                    <a:p>
                      <a:pPr marL="0" indent="0" algn="ctr">
                        <a:buNone/>
                      </a:pPr>
                      <a:r>
                        <a:rPr lang="en-US" sz="1000" dirty="0">
                          <a:solidFill>
                            <a:srgbClr val="FFFFFF"/>
                          </a:solidFill>
                          <a:latin typeface="Calibri" pitchFamily="34" charset="0"/>
                          <a:ea typeface="Calibri" pitchFamily="34" charset="-122"/>
                          <a:cs typeface="Calibri" pitchFamily="34" charset="-120"/>
                        </a:rPr>
                        <a:t>(11,193)</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3C49"/>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(1,212)</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4F3"/>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0.08</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(1,092)</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4F3"/>
                    </a:solidFill>
                  </a:tcPr>
                </a:tc>
                <a:extLst>
                  <a:ext uri="{0D108BD9-81ED-4DB2-BD59-A6C34878D82A}">
                    <a16:rowId xmlns:a16="http://schemas.microsoft.com/office/drawing/2014/main" val="10001"/>
                  </a:ext>
                </a:extLst>
              </a:tr>
              <a:tr h="777240">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Neutral</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(699)</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4F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p>
                      <a:pPr marL="0" indent="0" algn="ctr">
                        <a:buNone/>
                      </a:pPr>
                      <a:r>
                        <a:rPr lang="en-US" sz="1000" dirty="0">
                          <a:solidFill>
                            <a:srgbClr val="FFFFFF"/>
                          </a:solidFill>
                          <a:latin typeface="Calibri" pitchFamily="34" charset="0"/>
                          <a:ea typeface="Calibri" pitchFamily="34" charset="-122"/>
                          <a:cs typeface="Calibri" pitchFamily="34" charset="-120"/>
                        </a:rPr>
                        <a:t>(3,182)</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F8A82"/>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(948)</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9D3CE"/>
                    </a:solidFill>
                  </a:tcPr>
                </a:tc>
                <a:extLst>
                  <a:ext uri="{0D108BD9-81ED-4DB2-BD59-A6C34878D82A}">
                    <a16:rowId xmlns:a16="http://schemas.microsoft.com/office/drawing/2014/main" val="10002"/>
                  </a:ext>
                </a:extLst>
              </a:tr>
              <a:tr h="777240">
                <a:tc>
                  <a:txBody>
                    <a:bodyPr/>
                    <a:lstStyle/>
                    <a:p>
                      <a:pPr marL="0" indent="0" algn="ctr">
                        <a:buNone/>
                      </a:pPr>
                      <a:r>
                        <a:rPr lang="en-US" sz="1200" b="1" dirty="0">
                          <a:solidFill>
                            <a:srgbClr val="0B3C49"/>
                          </a:solidFill>
                          <a:latin typeface="Calibri" pitchFamily="34" charset="0"/>
                          <a:ea typeface="Calibri" pitchFamily="34" charset="-122"/>
                          <a:cs typeface="Calibri" pitchFamily="34" charset="-120"/>
                        </a:rPr>
                        <a:t>Positive</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(1,828)</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4F3"/>
                    </a:solidFill>
                  </a:tcPr>
                </a:tc>
                <a:tc>
                  <a:txBody>
                    <a:bodyPr/>
                    <a:lstStyle/>
                    <a:p>
                      <a:pPr marL="0" indent="0" algn="ctr">
                        <a:buNone/>
                      </a:pPr>
                      <a:r>
                        <a:rPr lang="en-US" sz="1500" b="1" dirty="0">
                          <a:solidFill>
                            <a:srgbClr val="1B2A33"/>
                          </a:solidFill>
                          <a:latin typeface="Calibri" pitchFamily="34" charset="0"/>
                          <a:ea typeface="Calibri" pitchFamily="34" charset="-122"/>
                          <a:cs typeface="Calibri" pitchFamily="34" charset="-120"/>
                        </a:rPr>
                        <a:t>0.07</a:t>
                      </a:r>
                      <a:endParaRPr lang="en-US" sz="1200" dirty="0">
                        <a:latin typeface="Calibri" charset="0"/>
                        <a:ea typeface="Calibri" charset="0"/>
                        <a:cs typeface="Calibri" charset="0"/>
                      </a:endParaRPr>
                    </a:p>
                    <a:p>
                      <a:pPr marL="0" indent="0" algn="ctr">
                        <a:buNone/>
                      </a:pPr>
                      <a:r>
                        <a:rPr lang="en-US" sz="1000" dirty="0">
                          <a:solidFill>
                            <a:srgbClr val="1B2A33"/>
                          </a:solidFill>
                          <a:latin typeface="Calibri" pitchFamily="34" charset="0"/>
                          <a:ea typeface="Calibri" pitchFamily="34" charset="-122"/>
                          <a:cs typeface="Calibri" pitchFamily="34" charset="-120"/>
                        </a:rPr>
                        <a:t>(2,329)</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4F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p>
                      <a:pPr marL="0" indent="0" algn="ctr">
                        <a:buNone/>
                      </a:pPr>
                      <a:r>
                        <a:rPr lang="en-US" sz="1000" dirty="0">
                          <a:solidFill>
                            <a:srgbClr val="FFFFFF"/>
                          </a:solidFill>
                          <a:latin typeface="Calibri" pitchFamily="34" charset="0"/>
                          <a:ea typeface="Calibri" pitchFamily="34" charset="-122"/>
                          <a:cs typeface="Calibri" pitchFamily="34" charset="-120"/>
                        </a:rPr>
                        <a:t>(31,283)</a:t>
                      </a:r>
                      <a:endParaRPr lang="en-US" sz="12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3C49"/>
                    </a:solidFill>
                  </a:tcPr>
                </a:tc>
                <a:extLst>
                  <a:ext uri="{0D108BD9-81ED-4DB2-BD59-A6C34878D82A}">
                    <a16:rowId xmlns:a16="http://schemas.microsoft.com/office/drawing/2014/main" val="10003"/>
                  </a:ext>
                </a:extLst>
              </a:tr>
            </a:tbl>
          </a:graphicData>
        </a:graphic>
      </p:graphicFrame>
      <p:sp>
        <p:nvSpPr>
          <p:cNvPr id="4" name="cm caption"/>
          <p:cNvSpPr txBox="1"/>
          <p:nvPr/>
        </p:nvSpPr>
        <p:spPr>
          <a:xfrm>
            <a:off x="457200" y="4160520"/>
            <a:ext cx="4206240" cy="274320"/>
          </a:xfrm>
          <a:prstGeom prst="rect">
            <a:avLst/>
          </a:prstGeom>
          <a:noFill/>
          <a:ln/>
        </p:spPr>
        <p:txBody>
          <a:bodyPr wrap="square" lIns="0" tIns="0" rIns="0" bIns="0" rtlCol="0" anchor="ctr"/>
          <a:lstStyle/>
          <a:p>
            <a:pPr marL="0" indent="0" algn="ctr">
              <a:buNone/>
            </a:pPr>
            <a:r>
              <a:rPr lang="en-US" sz="1100" i="1" dirty="0">
                <a:solidFill>
                  <a:schemeClr val="accent5"/>
                </a:solidFill>
              </a:rPr>
              <a:t>CIFG confusion matrix (row-normalised)</a:t>
            </a:r>
            <a:endParaRPr lang="en-US" sz="1100" dirty="0"/>
          </a:p>
        </p:txBody>
      </p:sp>
      <p:sp>
        <p:nvSpPr>
          <p:cNvPr id="5" name="finding card 0"/>
          <p:cNvSpPr/>
          <p:nvPr/>
        </p:nvSpPr>
        <p:spPr>
          <a:xfrm>
            <a:off x="5029200" y="1325880"/>
            <a:ext cx="3657600" cy="694944"/>
          </a:xfrm>
          <a:prstGeom prst="roundRect">
            <a:avLst>
              <a:gd name="adj" fmla="val 15789"/>
            </a:avLst>
          </a:prstGeom>
          <a:solidFill>
            <a:schemeClr val="bg2"/>
          </a:solidFill>
          <a:ln/>
        </p:spPr>
      </p:sp>
      <p:sp>
        <p:nvSpPr>
          <p:cNvPr id="6" name="finding 0"/>
          <p:cNvSpPr txBox="1"/>
          <p:nvPr/>
        </p:nvSpPr>
        <p:spPr>
          <a:xfrm>
            <a:off x="5212080" y="1325880"/>
            <a:ext cx="3291840" cy="694944"/>
          </a:xfrm>
          <a:prstGeom prst="rect">
            <a:avLst/>
          </a:prstGeom>
          <a:noFill/>
          <a:ln/>
        </p:spPr>
        <p:txBody>
          <a:bodyPr wrap="square" lIns="0" tIns="0" rIns="0" bIns="0" rtlCol="0" anchor="ctr"/>
          <a:lstStyle/>
          <a:p>
            <a:pPr marL="0" indent="0" algn="l">
              <a:lnSpc>
                <a:spcPct val="110000"/>
              </a:lnSpc>
              <a:buNone/>
            </a:pPr>
            <a:r>
              <a:rPr lang="en-US" sz="1400" dirty="0">
                <a:solidFill>
                  <a:schemeClr val="tx1"/>
                </a:solidFill>
              </a:rPr>
              <a:t>Neutral is the hardest class (recall about 62–66%)</a:t>
            </a:r>
            <a:endParaRPr lang="en-US" sz="1400" dirty="0"/>
          </a:p>
        </p:txBody>
      </p:sp>
      <p:sp>
        <p:nvSpPr>
          <p:cNvPr id="7" name="finding card 1"/>
          <p:cNvSpPr/>
          <p:nvPr/>
        </p:nvSpPr>
        <p:spPr>
          <a:xfrm>
            <a:off x="5029200" y="2130552"/>
            <a:ext cx="3657600" cy="694944"/>
          </a:xfrm>
          <a:prstGeom prst="roundRect">
            <a:avLst>
              <a:gd name="adj" fmla="val 15789"/>
            </a:avLst>
          </a:prstGeom>
          <a:solidFill>
            <a:schemeClr val="bg2"/>
          </a:solidFill>
          <a:ln/>
        </p:spPr>
      </p:sp>
      <p:sp>
        <p:nvSpPr>
          <p:cNvPr id="3" name="finding 1"/>
          <p:cNvSpPr txBox="1"/>
          <p:nvPr/>
        </p:nvSpPr>
        <p:spPr>
          <a:xfrm>
            <a:off x="5212080" y="2130552"/>
            <a:ext cx="3291840" cy="694944"/>
          </a:xfrm>
          <a:prstGeom prst="rect">
            <a:avLst/>
          </a:prstGeom>
          <a:noFill/>
          <a:ln/>
        </p:spPr>
        <p:txBody>
          <a:bodyPr wrap="square" lIns="0" tIns="0" rIns="0" bIns="0" rtlCol="0" anchor="ctr"/>
          <a:lstStyle/>
          <a:p>
            <a:pPr marL="0" indent="0" algn="l">
              <a:lnSpc>
                <a:spcPct val="110000"/>
              </a:lnSpc>
              <a:buNone/>
            </a:pPr>
            <a:r>
              <a:rPr lang="en-US" sz="1400" dirty="0">
                <a:solidFill>
                  <a:schemeClr val="tx1"/>
                </a:solidFill>
              </a:rPr>
              <a:t>Missed neutrals go to positive a bit more often than to negative</a:t>
            </a:r>
            <a:endParaRPr lang="en-US" sz="1400" dirty="0"/>
          </a:p>
        </p:txBody>
      </p:sp>
      <p:sp>
        <p:nvSpPr>
          <p:cNvPr id="9" name="finding card 2"/>
          <p:cNvSpPr/>
          <p:nvPr/>
        </p:nvSpPr>
        <p:spPr>
          <a:xfrm>
            <a:off x="5029200" y="2935224"/>
            <a:ext cx="3657600" cy="694944"/>
          </a:xfrm>
          <a:prstGeom prst="roundRect">
            <a:avLst>
              <a:gd name="adj" fmla="val 15789"/>
            </a:avLst>
          </a:prstGeom>
          <a:solidFill>
            <a:schemeClr val="bg2"/>
          </a:solidFill>
          <a:ln/>
        </p:spPr>
      </p:sp>
      <p:sp>
        <p:nvSpPr>
          <p:cNvPr id="10" name="finding 2"/>
          <p:cNvSpPr txBox="1"/>
          <p:nvPr/>
        </p:nvSpPr>
        <p:spPr>
          <a:xfrm>
            <a:off x="5212080" y="2935224"/>
            <a:ext cx="3291840" cy="694944"/>
          </a:xfrm>
          <a:prstGeom prst="rect">
            <a:avLst/>
          </a:prstGeom>
          <a:noFill/>
          <a:ln/>
        </p:spPr>
        <p:txBody>
          <a:bodyPr wrap="square" lIns="0" tIns="0" rIns="0" bIns="0" rtlCol="0" anchor="ctr"/>
          <a:lstStyle/>
          <a:p>
            <a:pPr marL="0" indent="0" algn="l">
              <a:lnSpc>
                <a:spcPct val="110000"/>
              </a:lnSpc>
              <a:buNone/>
            </a:pPr>
            <a:r>
              <a:rPr lang="en-US" sz="1400" dirty="0">
                <a:solidFill>
                  <a:schemeClr val="tx1"/>
                </a:solidFill>
              </a:rPr>
              <a:t>Neutral precision is low (about 0.47 for CIFG): models over-predict neutral</a:t>
            </a:r>
            <a:endParaRPr lang="en-US" sz="1400" dirty="0"/>
          </a:p>
        </p:txBody>
      </p:sp>
      <p:sp>
        <p:nvSpPr>
          <p:cNvPr id="11" name="finding card 3"/>
          <p:cNvSpPr/>
          <p:nvPr/>
        </p:nvSpPr>
        <p:spPr>
          <a:xfrm>
            <a:off x="5029200" y="3739896"/>
            <a:ext cx="3657600" cy="694944"/>
          </a:xfrm>
          <a:prstGeom prst="roundRect">
            <a:avLst>
              <a:gd name="adj" fmla="val 15789"/>
            </a:avLst>
          </a:prstGeom>
          <a:solidFill>
            <a:schemeClr val="bg2"/>
          </a:solidFill>
          <a:ln/>
        </p:spPr>
      </p:sp>
      <p:sp>
        <p:nvSpPr>
          <p:cNvPr id="12" name="finding 3"/>
          <p:cNvSpPr txBox="1"/>
          <p:nvPr/>
        </p:nvSpPr>
        <p:spPr>
          <a:xfrm>
            <a:off x="5212080" y="3739896"/>
            <a:ext cx="3291840" cy="694944"/>
          </a:xfrm>
          <a:prstGeom prst="rect">
            <a:avLst/>
          </a:prstGeom>
          <a:noFill/>
          <a:ln/>
        </p:spPr>
        <p:txBody>
          <a:bodyPr wrap="square" lIns="0" tIns="0" rIns="0" bIns="0" rtlCol="0" anchor="ctr"/>
          <a:lstStyle/>
          <a:p>
            <a:pPr marL="0" indent="0" algn="l">
              <a:lnSpc>
                <a:spcPct val="110000"/>
              </a:lnSpc>
              <a:buNone/>
            </a:pPr>
            <a:r>
              <a:rPr lang="en-US" sz="1400" dirty="0">
                <a:solidFill>
                  <a:schemeClr val="tx1"/>
                </a:solidFill>
              </a:rPr>
              <a:t>A 5 or 6 out of 10 often reads like a mixed or mildly positive review</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nchor="ctr"/>
          <a:lstStyle/>
          <a:p>
            <a:pPr marL="0" indent="0" algn="l">
              <a:buNone/>
            </a:pPr>
            <a:r>
              <a:rPr lang="en-US" sz="3000" b="1" dirty="0">
                <a:solidFill>
                  <a:schemeClr val="bg1"/>
                </a:solidFill>
              </a:rPr>
              <a:t>Limitations and conclusion</a:t>
            </a:r>
            <a:endParaRPr lang="en-US" sz="3000" dirty="0"/>
          </a:p>
        </p:txBody>
      </p:sp>
      <p:sp>
        <p:nvSpPr>
          <p:cNvPr id="3" name="conclusion text"/>
          <p:cNvSpPr txBox="1"/>
          <p:nvPr/>
        </p:nvSpPr>
        <p:spPr>
          <a:xfrm>
            <a:off x="457200" y="1188720"/>
            <a:ext cx="4754880" cy="3566160"/>
          </a:xfrm>
          <a:prstGeom prst="rect">
            <a:avLst/>
          </a:prstGeom>
          <a:noFill/>
          <a:ln/>
        </p:spPr>
        <p:txBody>
          <a:bodyPr wrap="square" lIns="0" tIns="0" rIns="0" bIns="0" rtlCol="0" anchor="t"/>
          <a:lstStyle/>
          <a:p>
            <a:pPr marL="0" indent="0" algn="just">
              <a:lnSpc>
                <a:spcPct val="150000"/>
              </a:lnSpc>
              <a:spcAft>
                <a:spcPts val="600"/>
              </a:spcAft>
              <a:buNone/>
            </a:pPr>
            <a:r>
              <a:rPr lang="en-US" sz="1600" dirty="0">
                <a:solidFill>
                  <a:schemeClr val="bg1"/>
                </a:solidFill>
              </a:rPr>
              <a:t>Our main limits are few seeds and a fixed number of epochs. Next steps would be longer training with early stopping, a wider hyperparameter search, training the WMC cell, and better inputs like pre-trained embeddings or a bidirectional cell. To conclude: CIFG matches the vanilla LSTM with fewer parameters, and the learning rate mattered far more than the choice of cell. Thank you, we are happy to take your questions.</a:t>
            </a:r>
            <a:endParaRPr lang="en-US" sz="1600" dirty="0">
              <a:ea typeface="Calibri"/>
              <a:cs typeface="Calibri"/>
            </a:endParaRPr>
          </a:p>
        </p:txBody>
      </p:sp>
      <p:sp>
        <p:nvSpPr>
          <p:cNvPr id="4" name="takeaway 0"/>
          <p:cNvSpPr/>
          <p:nvPr/>
        </p:nvSpPr>
        <p:spPr>
          <a:xfrm>
            <a:off x="5669280" y="1188720"/>
            <a:ext cx="3017520" cy="1005840"/>
          </a:xfrm>
          <a:prstGeom prst="roundRect">
            <a:avLst>
              <a:gd name="adj" fmla="val 10909"/>
            </a:avLst>
          </a:prstGeom>
          <a:solidFill>
            <a:schemeClr val="accent1"/>
          </a:solidFill>
          <a:ln/>
        </p:spPr>
      </p:sp>
      <p:sp>
        <p:nvSpPr>
          <p:cNvPr id="5" name="takeaway text 0"/>
          <p:cNvSpPr txBox="1"/>
          <p:nvPr/>
        </p:nvSpPr>
        <p:spPr>
          <a:xfrm>
            <a:off x="5852160" y="1280160"/>
            <a:ext cx="2743200" cy="822960"/>
          </a:xfrm>
          <a:prstGeom prst="rect">
            <a:avLst/>
          </a:prstGeom>
          <a:noFill/>
          <a:ln/>
        </p:spPr>
        <p:txBody>
          <a:bodyPr wrap="square" lIns="0" tIns="0" rIns="0" bIns="0" rtlCol="0" anchor="ctr"/>
          <a:lstStyle/>
          <a:p>
            <a:pPr marL="0" indent="0">
              <a:buNone/>
            </a:pPr>
            <a:r>
              <a:rPr lang="en-US" sz="1800" b="1" dirty="0">
                <a:solidFill>
                  <a:schemeClr val="bg1"/>
                </a:solidFill>
                <a:latin typeface="Cambria" pitchFamily="34" charset="0"/>
                <a:ea typeface="Cambria" pitchFamily="34" charset="-122"/>
                <a:cs typeface="Cambria" pitchFamily="34" charset="-120"/>
              </a:rPr>
              <a:t>CIFG ≈ Vanilla</a:t>
            </a:r>
            <a:endParaRPr lang="en-US" sz="1800" dirty="0"/>
          </a:p>
          <a:p>
            <a:pPr marL="0" indent="0">
              <a:buNone/>
            </a:pPr>
            <a:r>
              <a:rPr lang="en-US" sz="1200" dirty="0">
                <a:solidFill>
                  <a:schemeClr val="bg2"/>
                </a:solidFill>
              </a:rPr>
              <a:t>with fewer cell parameters</a:t>
            </a:r>
            <a:endParaRPr lang="en-US" sz="1800" dirty="0"/>
          </a:p>
        </p:txBody>
      </p:sp>
      <p:sp>
        <p:nvSpPr>
          <p:cNvPr id="6" name="takeaway 1"/>
          <p:cNvSpPr/>
          <p:nvPr/>
        </p:nvSpPr>
        <p:spPr>
          <a:xfrm>
            <a:off x="5669280" y="2377440"/>
            <a:ext cx="3017520" cy="1005840"/>
          </a:xfrm>
          <a:prstGeom prst="roundRect">
            <a:avLst>
              <a:gd name="adj" fmla="val 10909"/>
            </a:avLst>
          </a:prstGeom>
          <a:solidFill>
            <a:schemeClr val="accent1"/>
          </a:solidFill>
          <a:ln/>
        </p:spPr>
      </p:sp>
      <p:sp>
        <p:nvSpPr>
          <p:cNvPr id="7" name="takeaway text 1"/>
          <p:cNvSpPr txBox="1"/>
          <p:nvPr/>
        </p:nvSpPr>
        <p:spPr>
          <a:xfrm>
            <a:off x="5852160" y="2468880"/>
            <a:ext cx="2743200" cy="822960"/>
          </a:xfrm>
          <a:prstGeom prst="rect">
            <a:avLst/>
          </a:prstGeom>
          <a:noFill/>
          <a:ln/>
        </p:spPr>
        <p:txBody>
          <a:bodyPr wrap="square" lIns="0" tIns="0" rIns="0" bIns="0" rtlCol="0" anchor="ctr"/>
          <a:lstStyle/>
          <a:p>
            <a:pPr marL="0" indent="0">
              <a:buNone/>
            </a:pPr>
            <a:r>
              <a:rPr lang="en-US" sz="1800" b="1" dirty="0">
                <a:solidFill>
                  <a:schemeClr val="bg1"/>
                </a:solidFill>
                <a:latin typeface="Cambria" pitchFamily="34" charset="0"/>
                <a:ea typeface="Cambria" pitchFamily="34" charset="-122"/>
                <a:cs typeface="Cambria" pitchFamily="34" charset="-120"/>
              </a:rPr>
              <a:t>Learning rate</a:t>
            </a:r>
            <a:endParaRPr lang="en-US" sz="1800" dirty="0"/>
          </a:p>
          <a:p>
            <a:pPr marL="0" indent="0">
              <a:buNone/>
            </a:pPr>
            <a:r>
              <a:rPr lang="en-US" sz="1200" dirty="0">
                <a:solidFill>
                  <a:schemeClr val="bg2"/>
                </a:solidFill>
              </a:rPr>
              <a:t>mattered far more than the cell</a:t>
            </a:r>
            <a:endParaRPr lang="en-US" sz="1800" dirty="0"/>
          </a:p>
        </p:txBody>
      </p:sp>
      <p:sp>
        <p:nvSpPr>
          <p:cNvPr id="8" name="takeaway 2"/>
          <p:cNvSpPr/>
          <p:nvPr/>
        </p:nvSpPr>
        <p:spPr>
          <a:xfrm>
            <a:off x="5669280" y="3566160"/>
            <a:ext cx="3017520" cy="1005840"/>
          </a:xfrm>
          <a:prstGeom prst="roundRect">
            <a:avLst>
              <a:gd name="adj" fmla="val 10909"/>
            </a:avLst>
          </a:prstGeom>
          <a:solidFill>
            <a:schemeClr val="accent1"/>
          </a:solidFill>
          <a:ln/>
        </p:spPr>
      </p:sp>
      <p:sp>
        <p:nvSpPr>
          <p:cNvPr id="9" name="takeaway text 2"/>
          <p:cNvSpPr txBox="1"/>
          <p:nvPr/>
        </p:nvSpPr>
        <p:spPr>
          <a:xfrm>
            <a:off x="5852160" y="3657600"/>
            <a:ext cx="2743200" cy="822960"/>
          </a:xfrm>
          <a:prstGeom prst="rect">
            <a:avLst/>
          </a:prstGeom>
          <a:noFill/>
          <a:ln/>
        </p:spPr>
        <p:txBody>
          <a:bodyPr wrap="square" lIns="0" tIns="0" rIns="0" bIns="0" rtlCol="0" anchor="ctr"/>
          <a:lstStyle/>
          <a:p>
            <a:pPr marL="0" indent="0">
              <a:buNone/>
            </a:pPr>
            <a:r>
              <a:rPr lang="en-US" sz="1800" b="1" dirty="0">
                <a:solidFill>
                  <a:schemeClr val="bg1"/>
                </a:solidFill>
                <a:latin typeface="Cambria" pitchFamily="34" charset="0"/>
                <a:ea typeface="Cambria" pitchFamily="34" charset="-122"/>
                <a:cs typeface="Cambria" pitchFamily="34" charset="-120"/>
              </a:rPr>
              <a:t>Questions?</a:t>
            </a:r>
            <a:endParaRPr lang="en-US" sz="1800" dirty="0"/>
          </a:p>
          <a:p>
            <a:pPr marL="0" indent="0">
              <a:buNone/>
            </a:pPr>
            <a:r>
              <a:rPr lang="en-US" sz="1200" dirty="0">
                <a:solidFill>
                  <a:schemeClr val="bg2"/>
                </a:solidFill>
              </a:rPr>
              <a:t>Thank you</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Pharma Teal">
  <a:themeElements>
    <a:clrScheme name="Pharma Teal">
      <a:dk1>
        <a:srgbClr val="1B2A33"/>
      </a:dk1>
      <a:lt1>
        <a:srgbClr val="FFFFFF"/>
      </a:lt1>
      <a:dk2>
        <a:srgbClr val="0B3C49"/>
      </a:dk2>
      <a:lt2>
        <a:srgbClr val="EAF4F3"/>
      </a:lt2>
      <a:accent1>
        <a:srgbClr val="1F8A82"/>
      </a:accent1>
      <a:accent2>
        <a:srgbClr val="E39B3B"/>
      </a:accent2>
      <a:accent3>
        <a:srgbClr val="C8524F"/>
      </a:accent3>
      <a:accent4>
        <a:srgbClr val="7FB8B2"/>
      </a:accent4>
      <a:accent5>
        <a:srgbClr val="5B6B73"/>
      </a:accent5>
      <a:accent6>
        <a:srgbClr val="F4D9A8"/>
      </a:accent6>
      <a:hlink>
        <a:srgbClr val="1F8A82"/>
      </a:hlink>
      <a:folHlink>
        <a:srgbClr val="0B3C49"/>
      </a:folHlink>
    </a:clrScheme>
    <a:fontScheme name="Pharma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Pharma Teal</vt:lpstr>
      <vt:lpstr>Drug Review Classification with Custom LSTM Cells</vt:lpstr>
      <vt:lpstr>Goal of the task</vt:lpstr>
      <vt:lpstr>Exploratory data analysis</vt:lpstr>
      <vt:lpstr>Modeling approach</vt:lpstr>
      <vt:lpstr>Training and hyperparameters</vt:lpstr>
      <vt:lpstr>Results: comparing the cells</vt:lpstr>
      <vt:lpstr>Error analysis</vt:lpstr>
      <vt:lpstr>Limitations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Review Classification with Custom LSTM Cells</dc:title>
  <dc:subject>PptxGenJS Presentation</dc:subject>
  <dc:creator>PptxGenJS</dc:creator>
  <cp:lastModifiedBy>PptxGenJS</cp:lastModifiedBy>
  <cp:revision>18</cp:revision>
  <dcterms:created xsi:type="dcterms:W3CDTF">2026-10-27T13:56:27Z</dcterms:created>
  <dcterms:modified xsi:type="dcterms:W3CDTF">2026-10-27T14:09:01Z</dcterms:modified>
</cp:coreProperties>
</file>